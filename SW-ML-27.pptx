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070" r:id="rId1"/>
  </p:sldMasterIdLst>
  <p:notesMasterIdLst>
    <p:notesMasterId r:id="rId66"/>
  </p:notesMasterIdLst>
  <p:sldIdLst>
    <p:sldId id="256" r:id="rId2"/>
    <p:sldId id="257" r:id="rId3"/>
    <p:sldId id="318" r:id="rId4"/>
    <p:sldId id="258" r:id="rId5"/>
    <p:sldId id="260" r:id="rId6"/>
    <p:sldId id="259" r:id="rId7"/>
    <p:sldId id="293" r:id="rId8"/>
    <p:sldId id="270" r:id="rId9"/>
    <p:sldId id="262" r:id="rId10"/>
    <p:sldId id="273" r:id="rId11"/>
    <p:sldId id="314" r:id="rId12"/>
    <p:sldId id="263" r:id="rId13"/>
    <p:sldId id="264" r:id="rId14"/>
    <p:sldId id="271" r:id="rId15"/>
    <p:sldId id="272" r:id="rId16"/>
    <p:sldId id="279" r:id="rId17"/>
    <p:sldId id="275" r:id="rId18"/>
    <p:sldId id="276" r:id="rId19"/>
    <p:sldId id="280" r:id="rId20"/>
    <p:sldId id="281" r:id="rId21"/>
    <p:sldId id="282" r:id="rId22"/>
    <p:sldId id="283" r:id="rId23"/>
    <p:sldId id="285" r:id="rId24"/>
    <p:sldId id="286" r:id="rId25"/>
    <p:sldId id="287" r:id="rId26"/>
    <p:sldId id="288" r:id="rId27"/>
    <p:sldId id="289" r:id="rId28"/>
    <p:sldId id="290" r:id="rId29"/>
    <p:sldId id="291"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7" r:id="rId43"/>
    <p:sldId id="308" r:id="rId44"/>
    <p:sldId id="309" r:id="rId45"/>
    <p:sldId id="310" r:id="rId46"/>
    <p:sldId id="311" r:id="rId47"/>
    <p:sldId id="312" r:id="rId48"/>
    <p:sldId id="313" r:id="rId49"/>
    <p:sldId id="319" r:id="rId50"/>
    <p:sldId id="320" r:id="rId51"/>
    <p:sldId id="321" r:id="rId52"/>
    <p:sldId id="322" r:id="rId53"/>
    <p:sldId id="323" r:id="rId54"/>
    <p:sldId id="324" r:id="rId55"/>
    <p:sldId id="325" r:id="rId56"/>
    <p:sldId id="326" r:id="rId57"/>
    <p:sldId id="327" r:id="rId58"/>
    <p:sldId id="277" r:id="rId59"/>
    <p:sldId id="315" r:id="rId60"/>
    <p:sldId id="316" r:id="rId61"/>
    <p:sldId id="317" r:id="rId62"/>
    <p:sldId id="292" r:id="rId63"/>
    <p:sldId id="269" r:id="rId64"/>
    <p:sldId id="267"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ifX52E/O2vMdvfztXTaB/Ggd8j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17" autoAdjust="0"/>
  </p:normalViewPr>
  <p:slideViewPr>
    <p:cSldViewPr snapToGrid="0">
      <p:cViewPr varScale="1">
        <p:scale>
          <a:sx n="61" d="100"/>
          <a:sy n="61" d="100"/>
        </p:scale>
        <p:origin x="107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06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FEB4E06C-AEC4-A0DF-5F88-299E3163A462}"/>
            </a:ext>
          </a:extLst>
        </p:cNvPr>
        <p:cNvGrpSpPr/>
        <p:nvPr/>
      </p:nvGrpSpPr>
      <p:grpSpPr>
        <a:xfrm>
          <a:off x="0" y="0"/>
          <a:ext cx="0" cy="0"/>
          <a:chOff x="0" y="0"/>
          <a:chExt cx="0" cy="0"/>
        </a:xfrm>
      </p:grpSpPr>
      <p:sp>
        <p:nvSpPr>
          <p:cNvPr id="129" name="Google Shape;129;p7:notes">
            <a:extLst>
              <a:ext uri="{FF2B5EF4-FFF2-40B4-BE49-F238E27FC236}">
                <a16:creationId xmlns:a16="http://schemas.microsoft.com/office/drawing/2014/main" id="{3E53AE94-A11E-885A-2CBD-AB4D8A50DA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a:extLst>
              <a:ext uri="{FF2B5EF4-FFF2-40B4-BE49-F238E27FC236}">
                <a16:creationId xmlns:a16="http://schemas.microsoft.com/office/drawing/2014/main" id="{F244E0ED-4A1C-F18D-AE2B-CC50F40D4F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277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1ED23F1-AB5D-8147-2CB9-8A68001D5102}"/>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A0BCC10C-1165-1AC1-EB0A-7D75E89AF5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4" name="Google Shape;144;p9:notes">
            <a:extLst>
              <a:ext uri="{FF2B5EF4-FFF2-40B4-BE49-F238E27FC236}">
                <a16:creationId xmlns:a16="http://schemas.microsoft.com/office/drawing/2014/main" id="{D0F5E0D2-3E99-EAE6-25C5-DD28998481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5777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12D44A9-F6FB-755E-809D-CDAA410A3527}"/>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93B422CB-8879-4C6D-22D1-C49DE00E81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id="{1059CAD9-37E4-7C13-1456-C7DEEA943B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2575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891E82A8-ED29-2AAD-F606-18D3EF5603A8}"/>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56B6BB79-B5CE-2468-24F9-3E93A416A9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id="{9096E400-D744-805B-79E0-BB83FC5E02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522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7C15B42-FB2C-3290-5F11-3E79F10EC3C0}"/>
            </a:ext>
          </a:extLst>
        </p:cNvPr>
        <p:cNvGrpSpPr/>
        <p:nvPr/>
      </p:nvGrpSpPr>
      <p:grpSpPr>
        <a:xfrm>
          <a:off x="0" y="0"/>
          <a:ext cx="0" cy="0"/>
          <a:chOff x="0" y="0"/>
          <a:chExt cx="0" cy="0"/>
        </a:xfrm>
      </p:grpSpPr>
      <p:sp>
        <p:nvSpPr>
          <p:cNvPr id="143" name="Google Shape;143;p9:notes">
            <a:extLst>
              <a:ext uri="{FF2B5EF4-FFF2-40B4-BE49-F238E27FC236}">
                <a16:creationId xmlns:a16="http://schemas.microsoft.com/office/drawing/2014/main" id="{4945017E-E007-B03D-4753-4F8B26F83F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a:extLst>
              <a:ext uri="{FF2B5EF4-FFF2-40B4-BE49-F238E27FC236}">
                <a16:creationId xmlns:a16="http://schemas.microsoft.com/office/drawing/2014/main" id="{F543CB8A-3247-9D41-0ECC-1650C5C920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251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C6E56207-F42D-9A31-965D-7B07081BD839}"/>
            </a:ext>
          </a:extLst>
        </p:cNvPr>
        <p:cNvGrpSpPr/>
        <p:nvPr/>
      </p:nvGrpSpPr>
      <p:grpSpPr>
        <a:xfrm>
          <a:off x="0" y="0"/>
          <a:ext cx="0" cy="0"/>
          <a:chOff x="0" y="0"/>
          <a:chExt cx="0" cy="0"/>
        </a:xfrm>
      </p:grpSpPr>
      <p:sp>
        <p:nvSpPr>
          <p:cNvPr id="150" name="Google Shape;150;p10:notes">
            <a:extLst>
              <a:ext uri="{FF2B5EF4-FFF2-40B4-BE49-F238E27FC236}">
                <a16:creationId xmlns:a16="http://schemas.microsoft.com/office/drawing/2014/main" id="{58425DC4-06A9-7D7C-DA2D-7348CE3208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a:extLst>
              <a:ext uri="{FF2B5EF4-FFF2-40B4-BE49-F238E27FC236}">
                <a16:creationId xmlns:a16="http://schemas.microsoft.com/office/drawing/2014/main" id="{7964D09D-6DE5-5AE4-BCBD-61B86E378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1179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4070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r>
              <a:rPr lang="en-US"/>
              <a:t>1</a:t>
            </a:r>
            <a:fld id="{00000000-1234-1234-1234-123412341234}" type="slidenum">
              <a:rPr lang="en-US" smtClean="0"/>
              <a:pPr/>
              <a:t>‹#›</a:t>
            </a:fld>
            <a:endParaRPr/>
          </a:p>
        </p:txBody>
      </p:sp>
      <p:pic>
        <p:nvPicPr>
          <p:cNvPr id="14" name="Picture 2" descr="Makerere University College of Computing &amp; Information Sciences (CoCIS)">
            <a:extLst>
              <a:ext uri="{FF2B5EF4-FFF2-40B4-BE49-F238E27FC236}">
                <a16:creationId xmlns:a16="http://schemas.microsoft.com/office/drawing/2014/main" id="{D2126625-4523-474E-92AA-189A9C3C2F2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Makerere University - data.org">
            <a:extLst>
              <a:ext uri="{FF2B5EF4-FFF2-40B4-BE49-F238E27FC236}">
                <a16:creationId xmlns:a16="http://schemas.microsoft.com/office/drawing/2014/main" id="{EFC69319-8945-49AB-8074-4F6AF657870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36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0428C338-E682-4B46-9632-D57B5813D090}" type="slidenum">
              <a:rPr lang="en-US" smtClean="0"/>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9C6560F1-42EA-4A94-974F-D55BFA80F5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82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B3D58A46-7CBE-48B2-83A5-8DF89766F90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akerere University - data.org">
            <a:extLst>
              <a:ext uri="{FF2B5EF4-FFF2-40B4-BE49-F238E27FC236}">
                <a16:creationId xmlns:a16="http://schemas.microsoft.com/office/drawing/2014/main" id="{875CA289-B3AF-45B5-AE7A-82CC3495E7E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77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FBD9A6-F4F7-4C81-8C3B-C6430A86515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pic>
        <p:nvPicPr>
          <p:cNvPr id="8" name="Picture 2" descr="Makerere University College of Computing &amp; Information Sciences (CoCIS)">
            <a:extLst>
              <a:ext uri="{FF2B5EF4-FFF2-40B4-BE49-F238E27FC236}">
                <a16:creationId xmlns:a16="http://schemas.microsoft.com/office/drawing/2014/main" id="{78EE4102-8152-43BC-BAFA-4FB141B8B30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784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FBD9A6-F4F7-4C81-8C3B-C6430A865157}"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682173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FBD9A6-F4F7-4C81-8C3B-C6430A865157}"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pic>
        <p:nvPicPr>
          <p:cNvPr id="6" name="Picture 2" descr="Makerere University College of Computing &amp; Information Sciences (CoCIS)">
            <a:extLst>
              <a:ext uri="{FF2B5EF4-FFF2-40B4-BE49-F238E27FC236}">
                <a16:creationId xmlns:a16="http://schemas.microsoft.com/office/drawing/2014/main" id="{213A268C-684B-4D80-8953-311C290F44E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088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FBD9A6-F4F7-4C81-8C3B-C6430A865157}"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pic>
        <p:nvPicPr>
          <p:cNvPr id="5" name="Picture 2" descr="Makerere University College of Computing &amp; Information Sciences (CoCIS)">
            <a:extLst>
              <a:ext uri="{FF2B5EF4-FFF2-40B4-BE49-F238E27FC236}">
                <a16:creationId xmlns:a16="http://schemas.microsoft.com/office/drawing/2014/main" id="{8517D482-3FFF-4EE4-B99C-BEC6CC8C956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92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BD9A6-F4F7-4C81-8C3B-C6430A86515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pic>
        <p:nvPicPr>
          <p:cNvPr id="8" name="Picture 2" descr="Makerere University College of Computing &amp; Information Sciences (CoCIS)">
            <a:extLst>
              <a:ext uri="{FF2B5EF4-FFF2-40B4-BE49-F238E27FC236}">
                <a16:creationId xmlns:a16="http://schemas.microsoft.com/office/drawing/2014/main" id="{F125DA18-761C-4CEA-944A-1B6C3FE96B6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41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BD9A6-F4F7-4C81-8C3B-C6430A86515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pic>
        <p:nvPicPr>
          <p:cNvPr id="8" name="Picture 2" descr="Makerere University College of Computing &amp; Information Sciences (CoCIS)">
            <a:extLst>
              <a:ext uri="{FF2B5EF4-FFF2-40B4-BE49-F238E27FC236}">
                <a16:creationId xmlns:a16="http://schemas.microsoft.com/office/drawing/2014/main" id="{B3A8E71C-C91F-40AA-A6AF-56898F1648C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92716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BD9A6-F4F7-4C81-8C3B-C6430A86515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07647911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05706665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53310212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56998726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95867885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34931790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352AD970-1764-447D-A59E-ACA208116DD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5447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BD9A6-F4F7-4C81-8C3B-C6430A86515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pic>
        <p:nvPicPr>
          <p:cNvPr id="7" name="Picture 2" descr="Makerere University College of Computing &amp; Information Sciences (CoCIS)">
            <a:extLst>
              <a:ext uri="{FF2B5EF4-FFF2-40B4-BE49-F238E27FC236}">
                <a16:creationId xmlns:a16="http://schemas.microsoft.com/office/drawing/2014/main" id="{A2614190-262A-4D32-90F5-33ED091794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775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9FBD9A6-F4F7-4C81-8C3B-C6430A865157}" type="datetimeFigureOut">
              <a:rPr lang="en-US" smtClean="0"/>
              <a:t>3/30/2026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000000-1234-1234-1234-123412341234}" type="slidenum">
              <a:rPr lang="en-US" smtClean="0"/>
              <a:pPr/>
              <a:t>‹#›</a:t>
            </a:fld>
            <a:endParaRPr lang="en-US"/>
          </a:p>
        </p:txBody>
      </p:sp>
      <p:pic>
        <p:nvPicPr>
          <p:cNvPr id="14" name="Picture 2" descr="Makerere University - data.org">
            <a:extLst>
              <a:ext uri="{FF2B5EF4-FFF2-40B4-BE49-F238E27FC236}">
                <a16:creationId xmlns:a16="http://schemas.microsoft.com/office/drawing/2014/main" id="{C0CDEBC4-2C46-471F-95A8-D271479CD4ED}"/>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469756" y="10553"/>
            <a:ext cx="704660" cy="60026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Makerere University College of Computing &amp; Information Sciences (CoCIS)">
            <a:extLst>
              <a:ext uri="{FF2B5EF4-FFF2-40B4-BE49-F238E27FC236}">
                <a16:creationId xmlns:a16="http://schemas.microsoft.com/office/drawing/2014/main" id="{CB2B8AF3-179E-4CDC-9557-765A3C2EF6F3}"/>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8795" y="-12360"/>
            <a:ext cx="1793633" cy="358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473558"/>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 id="2147484084" r:id="rId14"/>
    <p:sldLayoutId id="2147484085" r:id="rId15"/>
    <p:sldLayoutId id="2147484086" r:id="rId16"/>
    <p:sldLayoutId id="2147484087"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my-app-app-ixkc2ppy99fpur6brmrm8y.streamlit.app/"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475861" y="813320"/>
            <a:ext cx="10235681" cy="2492950"/>
          </a:xfrm>
          <a:prstGeom prst="rect">
            <a:avLst/>
          </a:prstGeom>
          <a:noFill/>
          <a:ln>
            <a:noFill/>
          </a:ln>
        </p:spPr>
        <p:txBody>
          <a:bodyPr spcFirstLastPara="1" wrap="square" lIns="91425" tIns="45700" rIns="91425" bIns="45700" anchor="t" anchorCtr="0">
            <a:spAutoFit/>
          </a:bodyPr>
          <a:lstStyle/>
          <a:p>
            <a:pPr algn="ctr"/>
            <a:r>
              <a:rPr lang="en-US" b="1" dirty="0">
                <a:effectLst/>
                <a:latin typeface="Helvetica" panose="020B0604020202020204" pitchFamily="34" charset="0"/>
                <a:ea typeface="Times New Roman" panose="02020603050405020304" pitchFamily="18" charset="0"/>
                <a:cs typeface="Times New Roman" panose="02020603050405020304" pitchFamily="18" charset="0"/>
              </a:rPr>
              <a:t>Semi-Supervised and Positive-Unlabeled Representation Learning for Modeling the Socioeconomic Digital Divide</a:t>
            </a:r>
          </a:p>
          <a:p>
            <a:pPr algn="ctr"/>
            <a:endParaRPr lang="en-US" sz="3000" b="1" dirty="0">
              <a:solidFill>
                <a:schemeClr val="dk1"/>
              </a:solidFill>
            </a:endParaRPr>
          </a:p>
          <a:p>
            <a:pPr algn="ctr"/>
            <a:endParaRPr lang="en-US" sz="3000" b="1" dirty="0">
              <a:solidFill>
                <a:schemeClr val="dk1"/>
              </a:solidFill>
            </a:endParaRPr>
          </a:p>
          <a:p>
            <a:pPr algn="ctr"/>
            <a:r>
              <a:rPr lang="en-US" sz="3000" b="1" dirty="0">
                <a:solidFill>
                  <a:schemeClr val="dk1"/>
                </a:solidFill>
              </a:rPr>
              <a:t> Group CODE: SW-ML-27</a:t>
            </a:r>
            <a:endParaRPr lang="en-US" sz="3000" dirty="0">
              <a:solidFill>
                <a:schemeClr val="dk1"/>
              </a:solidFill>
            </a:endParaRPr>
          </a:p>
          <a:p>
            <a:pPr algn="ctr"/>
            <a:endParaRPr sz="3000" dirty="0">
              <a:solidFill>
                <a:schemeClr val="dk1"/>
              </a:solidFill>
            </a:endParaRPr>
          </a:p>
        </p:txBody>
      </p:sp>
      <p:sp>
        <p:nvSpPr>
          <p:cNvPr id="96" name="Google Shape;96;p1"/>
          <p:cNvSpPr/>
          <p:nvPr/>
        </p:nvSpPr>
        <p:spPr>
          <a:xfrm>
            <a:off x="177281" y="4665517"/>
            <a:ext cx="9181323" cy="923289"/>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Calibri"/>
                <a:ea typeface="Calibri"/>
                <a:cs typeface="Calibri"/>
                <a:sym typeface="Calibri"/>
              </a:rPr>
              <a:t>Team Members: </a:t>
            </a:r>
            <a:endParaRPr dirty="0"/>
          </a:p>
          <a:p>
            <a:pPr marL="342900" indent="-342900">
              <a:buClr>
                <a:schemeClr val="dk1"/>
              </a:buClr>
              <a:buSzPts val="2200"/>
              <a:buFont typeface="Calibri"/>
              <a:buAutoNum type="arabicPeriod"/>
            </a:pPr>
            <a:r>
              <a:rPr lang="en-US" b="1" dirty="0">
                <a:solidFill>
                  <a:schemeClr val="dk1"/>
                </a:solidFill>
                <a:latin typeface="Calibri"/>
                <a:cs typeface="Calibri"/>
                <a:sym typeface="Calibri"/>
              </a:rPr>
              <a:t>Swale Sebabe Abdu ,2300723779,23/U/23779,swale.sebabeabdu@students.mak.ac.ug</a:t>
            </a:r>
          </a:p>
          <a:p>
            <a:pPr marL="342900" indent="-342900">
              <a:buClr>
                <a:schemeClr val="dk1"/>
              </a:buClr>
              <a:buSzPts val="2200"/>
              <a:buFont typeface="Calibri"/>
              <a:buAutoNum type="arabicPeriod"/>
            </a:pPr>
            <a:r>
              <a:rPr lang="en-US" b="1" dirty="0">
                <a:solidFill>
                  <a:schemeClr val="dk1"/>
                </a:solidFill>
                <a:latin typeface="Calibri"/>
                <a:cs typeface="Calibri"/>
                <a:sym typeface="Calibri"/>
              </a:rPr>
              <a:t>Oba Phillip ,2300723024,23/X/23024/PS ,oba.phillip@students.mak.ac.ug</a:t>
            </a:r>
            <a:endParaRPr lang="en-US" dirty="0"/>
          </a:p>
        </p:txBody>
      </p:sp>
      <p:sp>
        <p:nvSpPr>
          <p:cNvPr id="2" name="Google Shape;121;p5">
            <a:extLst>
              <a:ext uri="{FF2B5EF4-FFF2-40B4-BE49-F238E27FC236}">
                <a16:creationId xmlns:a16="http://schemas.microsoft.com/office/drawing/2014/main" id="{6EA1F570-75BF-68FA-21E1-DC25188BADCD}"/>
              </a:ext>
            </a:extLst>
          </p:cNvPr>
          <p:cNvSpPr txBox="1">
            <a:spLocks/>
          </p:cNvSpPr>
          <p:nvPr/>
        </p:nvSpPr>
        <p:spPr>
          <a:xfrm>
            <a:off x="643812" y="3429000"/>
            <a:ext cx="10730204" cy="605935"/>
          </a:xfrm>
          <a:prstGeom prst="rect">
            <a:avLst/>
          </a:prstGeom>
          <a:noFill/>
          <a:ln>
            <a:noFill/>
          </a:ln>
        </p:spPr>
        <p:txBody>
          <a:bodyPr spcFirstLastPara="1" vert="horz" wrap="square" lIns="91425" tIns="45700" rIns="91425" bIns="45700" rtlCol="0" anchor="t" anchorCtr="0">
            <a:normAutofit fontScale="92500" lnSpcReduction="10000"/>
          </a:bodyPr>
          <a:lstStyle>
            <a:lvl1pPr marL="0" indent="0" algn="l" defTabSz="914400" rtl="0" eaLnBrk="1" latinLnBrk="0" hangingPunct="1">
              <a:lnSpc>
                <a:spcPct val="100000"/>
              </a:lnSpc>
              <a:spcBef>
                <a:spcPts val="0"/>
              </a:spcBef>
              <a:spcAft>
                <a:spcPts val="200"/>
              </a:spcAft>
              <a:buClr>
                <a:schemeClr val="accent2"/>
              </a:buClr>
              <a:buSzPct val="100000"/>
              <a:buFont typeface="Tw Cen MT" panose="020B0602020104020603" pitchFamily="34" charset="0"/>
              <a:buNone/>
              <a:defRPr sz="1800" kern="1200">
                <a:solidFill>
                  <a:schemeClr val="tx1">
                    <a:lumMod val="90000"/>
                    <a:lumOff val="10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2"/>
              </a:buClr>
              <a:buFont typeface="Wingdings 3" pitchFamily="18" charset="2"/>
              <a:buNone/>
              <a:defRPr sz="1800" kern="1200">
                <a:solidFill>
                  <a:schemeClr val="tx1"/>
                </a:solidFill>
                <a:latin typeface="+mn-lt"/>
                <a:ea typeface="+mn-ea"/>
                <a:cs typeface="+mn-cs"/>
              </a:defRPr>
            </a:lvl9pPr>
          </a:lstStyle>
          <a:p>
            <a:pPr marL="342900" indent="-342900"/>
            <a:r>
              <a:rPr lang="en-US" sz="1800" dirty="0">
                <a:solidFill>
                  <a:schemeClr val="tx1"/>
                </a:solidFill>
                <a:effectLst/>
                <a:latin typeface="Times New Roman" panose="02020603050405020304" pitchFamily="18" charset="0"/>
                <a:ea typeface="Times New Roman" panose="02020603050405020304" pitchFamily="18" charset="0"/>
              </a:rPr>
              <a:t>Keywords: Digital inclusion, heterogeneous tabular data, positive–unlabeled learning, semi-supervised classification, socioeconomic modeling, unsupervised clustering.</a:t>
            </a:r>
          </a:p>
          <a:p>
            <a:pPr marL="342900" indent="-342900"/>
            <a:endParaRPr lang="en-US" dirty="0"/>
          </a:p>
        </p:txBody>
      </p:sp>
      <p:sp>
        <p:nvSpPr>
          <p:cNvPr id="3" name="Title 1">
            <a:extLst>
              <a:ext uri="{FF2B5EF4-FFF2-40B4-BE49-F238E27FC236}">
                <a16:creationId xmlns:a16="http://schemas.microsoft.com/office/drawing/2014/main" id="{8ED683EB-6024-505F-211D-A2CCE7F81E62}"/>
              </a:ext>
            </a:extLst>
          </p:cNvPr>
          <p:cNvSpPr>
            <a:spLocks noGrp="1"/>
          </p:cNvSpPr>
          <p:nvPr>
            <p:ph type="ctrTitle"/>
          </p:nvPr>
        </p:nvSpPr>
        <p:spPr>
          <a:xfrm>
            <a:off x="8378890" y="4938141"/>
            <a:ext cx="3741575" cy="1463040"/>
          </a:xfrm>
        </p:spPr>
        <p:txBody>
          <a:bodyPr>
            <a:normAutofit fontScale="90000"/>
          </a:bodyPr>
          <a:lstStyle/>
          <a:p>
            <a:r>
              <a:rPr lang="en-US" sz="2800" dirty="0"/>
              <a:t>Department of Computer Science, COCIS</a:t>
            </a:r>
            <a:br>
              <a:rPr lang="en-US" sz="2800" dirty="0"/>
            </a:br>
            <a:r>
              <a:rPr lang="en-US" sz="2800" dirty="0"/>
              <a:t>Makerere University</a:t>
            </a:r>
            <a:br>
              <a:rPr lang="en-US" sz="2800" dirty="0"/>
            </a:br>
            <a:r>
              <a:rPr lang="en-US" sz="2800" dirty="0"/>
              <a:t>Supervisor: Ggaliwango Marvin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Contents of Presentation</a:t>
            </a:r>
            <a:endParaRPr dirty="0"/>
          </a:p>
        </p:txBody>
      </p:sp>
      <p:sp>
        <p:nvSpPr>
          <p:cNvPr id="103" name="Google Shape;103;p2"/>
          <p:cNvSpPr txBox="1">
            <a:spLocks noGrp="1"/>
          </p:cNvSpPr>
          <p:nvPr>
            <p:ph idx="1"/>
          </p:nvPr>
        </p:nvSpPr>
        <p:spPr>
          <a:xfrm>
            <a:off x="755780" y="947797"/>
            <a:ext cx="11019453" cy="5127315"/>
          </a:xfrm>
          <a:prstGeom prst="rect">
            <a:avLst/>
          </a:prstGeom>
          <a:noFill/>
          <a:ln>
            <a:noFill/>
          </a:ln>
        </p:spPr>
        <p:txBody>
          <a:bodyPr spcFirstLastPara="1" wrap="square" lIns="91425" tIns="45700" rIns="91425" bIns="45700" anchor="t" anchorCtr="0">
            <a:noAutofit/>
          </a:bodyPr>
          <a:lstStyle/>
          <a:p>
            <a:pPr marL="342900" indent="-342931">
              <a:spcBef>
                <a:spcPts val="0"/>
              </a:spcBef>
              <a:buSzPct val="100000"/>
            </a:pPr>
            <a:r>
              <a:rPr lang="en-US" sz="2200" dirty="0"/>
              <a:t>Introduction</a:t>
            </a:r>
            <a:endParaRPr sz="2200" dirty="0"/>
          </a:p>
          <a:p>
            <a:pPr marL="342900" indent="-342931">
              <a:spcBef>
                <a:spcPts val="536"/>
              </a:spcBef>
              <a:buSzPct val="100000"/>
            </a:pPr>
            <a:r>
              <a:rPr lang="en-US" sz="2200" dirty="0"/>
              <a:t>Related work</a:t>
            </a:r>
          </a:p>
          <a:p>
            <a:pPr marL="342900" indent="-342931">
              <a:spcBef>
                <a:spcPts val="536"/>
              </a:spcBef>
              <a:buSzPct val="100000"/>
            </a:pPr>
            <a:r>
              <a:rPr lang="en-US" sz="2200" dirty="0"/>
              <a:t>Problem Statement </a:t>
            </a:r>
            <a:endParaRPr sz="2200" dirty="0"/>
          </a:p>
          <a:p>
            <a:pPr marL="342900" indent="-342931">
              <a:spcBef>
                <a:spcPts val="536"/>
              </a:spcBef>
              <a:buSzPct val="100000"/>
            </a:pPr>
            <a:r>
              <a:rPr lang="en-US" sz="2200" dirty="0"/>
              <a:t>Research Questions and Objectives</a:t>
            </a:r>
            <a:endParaRPr sz="2200" dirty="0"/>
          </a:p>
          <a:p>
            <a:pPr marL="342900" indent="-342931">
              <a:spcBef>
                <a:spcPts val="536"/>
              </a:spcBef>
              <a:buSzPct val="100000"/>
            </a:pPr>
            <a:r>
              <a:rPr lang="en-US" sz="2200" dirty="0"/>
              <a:t>Research Contributions</a:t>
            </a:r>
            <a:endParaRPr sz="2200" dirty="0"/>
          </a:p>
          <a:p>
            <a:pPr marL="342900" indent="-342931">
              <a:spcBef>
                <a:spcPts val="536"/>
              </a:spcBef>
              <a:buSzPct val="100000"/>
            </a:pPr>
            <a:r>
              <a:rPr lang="en-US" sz="2200" dirty="0"/>
              <a:t>Methodology / System Architecture</a:t>
            </a:r>
          </a:p>
          <a:p>
            <a:pPr marL="342900" indent="-342931">
              <a:spcBef>
                <a:spcPts val="536"/>
              </a:spcBef>
              <a:buSzPct val="100000"/>
            </a:pPr>
            <a:r>
              <a:rPr lang="en-US" sz="2200" dirty="0"/>
              <a:t>Dataset Description </a:t>
            </a:r>
            <a:endParaRPr sz="2200" dirty="0"/>
          </a:p>
          <a:p>
            <a:pPr marL="342900" indent="-342931">
              <a:spcBef>
                <a:spcPts val="536"/>
              </a:spcBef>
              <a:buSzPct val="100000"/>
            </a:pPr>
            <a:r>
              <a:rPr lang="en-US" sz="2200" dirty="0"/>
              <a:t>Results (Experimental / Simulation)</a:t>
            </a:r>
            <a:endParaRPr sz="2200" dirty="0"/>
          </a:p>
          <a:p>
            <a:pPr marL="342900" indent="-342931">
              <a:spcBef>
                <a:spcPts val="536"/>
              </a:spcBef>
              <a:buSzPct val="100000"/>
            </a:pPr>
            <a:r>
              <a:rPr lang="en-US" sz="2200" dirty="0"/>
              <a:t>Conclusions</a:t>
            </a:r>
          </a:p>
          <a:p>
            <a:pPr marL="342900" indent="-342931">
              <a:spcBef>
                <a:spcPts val="536"/>
              </a:spcBef>
              <a:buSzPct val="100000"/>
            </a:pPr>
            <a:r>
              <a:rPr lang="en-US" sz="2200" dirty="0"/>
              <a:t>Anticipated Limitations and counteraction plan</a:t>
            </a:r>
          </a:p>
          <a:p>
            <a:pPr marL="342900" indent="-342931">
              <a:spcBef>
                <a:spcPts val="536"/>
              </a:spcBef>
              <a:buSzPct val="100000"/>
            </a:pPr>
            <a:r>
              <a:rPr lang="en-US" sz="2200" dirty="0"/>
              <a:t>References </a:t>
            </a:r>
            <a:endParaRPr sz="2200" dirty="0"/>
          </a:p>
          <a:p>
            <a:pPr marL="342900" indent="-342931">
              <a:spcBef>
                <a:spcPts val="536"/>
              </a:spcBef>
              <a:buSzPct val="100000"/>
            </a:pPr>
            <a:r>
              <a:rPr lang="en-US" sz="2200" dirty="0"/>
              <a:t>Acknowledgment (if any)</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B82C-4F43-416F-B995-81D5FD746B28}"/>
              </a:ext>
            </a:extLst>
          </p:cNvPr>
          <p:cNvSpPr>
            <a:spLocks noGrp="1"/>
          </p:cNvSpPr>
          <p:nvPr>
            <p:ph type="title"/>
          </p:nvPr>
        </p:nvSpPr>
        <p:spPr/>
        <p:txBody>
          <a:bodyPr/>
          <a:lstStyle/>
          <a:p>
            <a:r>
              <a:rPr lang="en-US" sz="4000" dirty="0">
                <a:sym typeface="Arial Rounded"/>
              </a:rPr>
              <a:t>BACKGROUND</a:t>
            </a:r>
            <a:endParaRPr lang="en-US" dirty="0"/>
          </a:p>
        </p:txBody>
      </p:sp>
      <p:sp>
        <p:nvSpPr>
          <p:cNvPr id="3" name="Content Placeholder 2">
            <a:extLst>
              <a:ext uri="{FF2B5EF4-FFF2-40B4-BE49-F238E27FC236}">
                <a16:creationId xmlns:a16="http://schemas.microsoft.com/office/drawing/2014/main" id="{F608CB2D-6D83-4DB2-A955-8BA0FF2ED1C1}"/>
              </a:ext>
            </a:extLst>
          </p:cNvPr>
          <p:cNvSpPr>
            <a:spLocks noGrp="1"/>
          </p:cNvSpPr>
          <p:nvPr>
            <p:ph idx="1"/>
          </p:nvPr>
        </p:nvSpPr>
        <p:spPr/>
        <p:txBody>
          <a:bodyPr/>
          <a:lstStyle/>
          <a:p>
            <a:r>
              <a:rPr lang="en-US" b="0" i="0" dirty="0">
                <a:effectLst/>
                <a:latin typeface="quote-cjk-patch"/>
              </a:rPr>
              <a:t>Uganda has experienced </a:t>
            </a:r>
            <a:r>
              <a:rPr lang="en-US" b="1" i="0" dirty="0">
                <a:effectLst/>
                <a:latin typeface="quote-cjk-patch"/>
              </a:rPr>
              <a:t>rapid growth in information and communication technology (ICT)</a:t>
            </a:r>
            <a:r>
              <a:rPr lang="en-US" b="0" i="0" dirty="0">
                <a:effectLst/>
                <a:latin typeface="quote-cjk-patch"/>
              </a:rPr>
              <a:t> over the past decade, driven by expanding mobile network coverage and increasing smartphone penetration. Mobile subscriptions have surged, yet </a:t>
            </a:r>
            <a:r>
              <a:rPr lang="en-US" b="1" i="0" dirty="0">
                <a:effectLst/>
                <a:latin typeface="quote-cjk-patch"/>
              </a:rPr>
              <a:t>internet access remains highly unequal</a:t>
            </a:r>
            <a:r>
              <a:rPr lang="en-US" b="0" i="0" dirty="0">
                <a:effectLst/>
                <a:latin typeface="quote-cjk-patch"/>
              </a:rPr>
              <a:t>, perpetuating a persistent digital divide that affects education, business, and essential public services</a:t>
            </a:r>
            <a:endParaRPr lang="en-US" dirty="0"/>
          </a:p>
        </p:txBody>
      </p:sp>
      <p:sp>
        <p:nvSpPr>
          <p:cNvPr id="4" name="Slide Number Placeholder 3">
            <a:extLst>
              <a:ext uri="{FF2B5EF4-FFF2-40B4-BE49-F238E27FC236}">
                <a16:creationId xmlns:a16="http://schemas.microsoft.com/office/drawing/2014/main" id="{8775D7FA-68EC-4239-9966-9C916005DE68}"/>
              </a:ext>
            </a:extLst>
          </p:cNvPr>
          <p:cNvSpPr>
            <a:spLocks noGrp="1"/>
          </p:cNvSpPr>
          <p:nvPr>
            <p:ph type="sldNum" sz="quarter" idx="12"/>
          </p:nvPr>
        </p:nvSpPr>
        <p:spPr/>
        <p:txBody>
          <a:bodyPr/>
          <a:lstStyle/>
          <a:p>
            <a:fld id="{0428C338-E682-4B46-9632-D57B5813D090}" type="slidenum">
              <a:rPr lang="en-US" smtClean="0"/>
              <a:t>3</a:t>
            </a:fld>
            <a:endParaRPr lang="en-US"/>
          </a:p>
        </p:txBody>
      </p:sp>
    </p:spTree>
    <p:extLst>
      <p:ext uri="{BB962C8B-B14F-4D97-AF65-F5344CB8AC3E}">
        <p14:creationId xmlns:p14="http://schemas.microsoft.com/office/powerpoint/2010/main" val="1435994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408991" y="287694"/>
            <a:ext cx="11374017" cy="757335"/>
          </a:xfrm>
          <a:prstGeom prst="rect">
            <a:avLst/>
          </a:prstGeom>
          <a:noFill/>
          <a:ln>
            <a:noFill/>
          </a:ln>
        </p:spPr>
        <p:txBody>
          <a:bodyPr spcFirstLastPara="1" wrap="square" lIns="91425" tIns="45700" rIns="91425" bIns="45700" anchor="ctr" anchorCtr="0">
            <a:normAutofit fontScale="90000"/>
          </a:bodyPr>
          <a:lstStyle/>
          <a:p>
            <a:pPr>
              <a:buClr>
                <a:srgbClr val="632423"/>
              </a:buClr>
              <a:buSzPct val="100000"/>
            </a:pPr>
            <a:r>
              <a:rPr lang="en-US" sz="4500" dirty="0">
                <a:sym typeface="Arial Rounded"/>
              </a:rPr>
              <a:t> INTRODUCTION</a:t>
            </a:r>
            <a:endParaRPr sz="4500" dirty="0"/>
          </a:p>
        </p:txBody>
      </p:sp>
      <p:sp>
        <p:nvSpPr>
          <p:cNvPr id="109" name="Google Shape;109;p3"/>
          <p:cNvSpPr txBox="1">
            <a:spLocks noGrp="1"/>
          </p:cNvSpPr>
          <p:nvPr>
            <p:ph idx="1"/>
          </p:nvPr>
        </p:nvSpPr>
        <p:spPr>
          <a:xfrm>
            <a:off x="105744" y="1237046"/>
            <a:ext cx="6024465" cy="5333260"/>
          </a:xfrm>
          <a:prstGeom prst="rect">
            <a:avLst/>
          </a:prstGeom>
          <a:noFill/>
          <a:ln>
            <a:noFill/>
          </a:ln>
        </p:spPr>
        <p:txBody>
          <a:bodyPr spcFirstLastPara="1" wrap="square" lIns="91425" tIns="45700" rIns="91425" bIns="45700" anchor="t" anchorCtr="0">
            <a:normAutofit fontScale="92500" lnSpcReduction="10000"/>
          </a:bodyPr>
          <a:lstStyle/>
          <a:p>
            <a:pPr marL="0" indent="0">
              <a:buNone/>
            </a:pPr>
            <a:r>
              <a:rPr lang="en-US" b="1" dirty="0"/>
              <a:t>Digital Transformation in Uganda</a:t>
            </a:r>
            <a:endParaRPr lang="en-US" dirty="0"/>
          </a:p>
          <a:p>
            <a:pPr marL="0" indent="0">
              <a:buNone/>
            </a:pPr>
            <a:r>
              <a:rPr lang="en-US" dirty="0"/>
              <a:t>Rapid </a:t>
            </a:r>
            <a:r>
              <a:rPr lang="en-US" b="1" dirty="0"/>
              <a:t>ICT growth</a:t>
            </a:r>
            <a:endParaRPr lang="en-US" dirty="0"/>
          </a:p>
          <a:p>
            <a:pPr marL="0" indent="0">
              <a:buNone/>
            </a:pPr>
            <a:r>
              <a:rPr lang="en-US" dirty="0"/>
              <a:t>Expanding </a:t>
            </a:r>
            <a:r>
              <a:rPr lang="en-US" b="1" dirty="0"/>
              <a:t>mobile penetration</a:t>
            </a:r>
            <a:endParaRPr lang="en-US" dirty="0"/>
          </a:p>
          <a:p>
            <a:pPr marL="0" indent="0">
              <a:buNone/>
            </a:pPr>
            <a:r>
              <a:rPr lang="en-US" dirty="0"/>
              <a:t>Unequal </a:t>
            </a:r>
            <a:r>
              <a:rPr lang="en-US" b="1" dirty="0"/>
              <a:t>internet access</a:t>
            </a:r>
            <a:endParaRPr lang="en-US" dirty="0"/>
          </a:p>
          <a:p>
            <a:pPr marL="0" indent="0">
              <a:buNone/>
            </a:pPr>
            <a:r>
              <a:rPr lang="en-US" dirty="0"/>
              <a:t>Persistent </a:t>
            </a:r>
            <a:r>
              <a:rPr lang="en-US" b="1" dirty="0"/>
              <a:t>digital divide</a:t>
            </a:r>
            <a:endParaRPr lang="en-US" dirty="0"/>
          </a:p>
          <a:p>
            <a:pPr marL="0" indent="0">
              <a:buNone/>
            </a:pPr>
            <a:r>
              <a:rPr lang="en-US" dirty="0"/>
              <a:t>Impact on </a:t>
            </a:r>
            <a:r>
              <a:rPr lang="en-US" b="1" dirty="0"/>
              <a:t>education • business • services</a:t>
            </a:r>
          </a:p>
          <a:p>
            <a:pPr marL="0" indent="0">
              <a:buNone/>
            </a:pPr>
            <a:r>
              <a:rPr lang="en-US" b="1" dirty="0"/>
              <a:t>Uganda Reality</a:t>
            </a:r>
            <a:endParaRPr lang="en-US" dirty="0"/>
          </a:p>
          <a:p>
            <a:pPr marL="0" indent="0">
              <a:buNone/>
            </a:pPr>
            <a:r>
              <a:rPr lang="en-US" dirty="0"/>
              <a:t>Urban areas → </a:t>
            </a:r>
            <a:r>
              <a:rPr lang="en-US" b="1" dirty="0"/>
              <a:t>higher connectivity</a:t>
            </a:r>
            <a:endParaRPr lang="en-US" dirty="0"/>
          </a:p>
          <a:p>
            <a:pPr marL="0" indent="0">
              <a:buNone/>
            </a:pPr>
            <a:r>
              <a:rPr lang="en-US" dirty="0"/>
              <a:t>Rural areas → </a:t>
            </a:r>
            <a:r>
              <a:rPr lang="en-US" b="1" dirty="0"/>
              <a:t>limited access</a:t>
            </a:r>
            <a:endParaRPr lang="en-US" dirty="0"/>
          </a:p>
          <a:p>
            <a:pPr marL="0" indent="0">
              <a:buNone/>
            </a:pPr>
            <a:r>
              <a:rPr lang="en-US" dirty="0"/>
              <a:t>Socio-economic gaps → </a:t>
            </a:r>
            <a:r>
              <a:rPr lang="en-US" b="1" dirty="0"/>
              <a:t>major barrier</a:t>
            </a:r>
            <a:endParaRPr lang="en-US" dirty="0"/>
          </a:p>
          <a:p>
            <a:pPr marL="0" indent="0">
              <a:buNone/>
            </a:pPr>
            <a:r>
              <a:rPr lang="en-US" dirty="0"/>
              <a:t>Infrastructure → </a:t>
            </a:r>
            <a:r>
              <a:rPr lang="en-US" b="1" dirty="0"/>
              <a:t>uneven distribution</a:t>
            </a:r>
            <a:endParaRPr lang="en-US" dirty="0"/>
          </a:p>
          <a:p>
            <a:pPr marL="0" indent="0">
              <a:buNone/>
            </a:pPr>
            <a:endParaRPr lang="en-US" dirty="0"/>
          </a:p>
        </p:txBody>
      </p:sp>
      <p:sp>
        <p:nvSpPr>
          <p:cNvPr id="2" name="Google Shape;109;p3">
            <a:extLst>
              <a:ext uri="{FF2B5EF4-FFF2-40B4-BE49-F238E27FC236}">
                <a16:creationId xmlns:a16="http://schemas.microsoft.com/office/drawing/2014/main" id="{01EC6B07-6569-B6A0-3948-E945AB29E102}"/>
              </a:ext>
            </a:extLst>
          </p:cNvPr>
          <p:cNvSpPr txBox="1">
            <a:spLocks/>
          </p:cNvSpPr>
          <p:nvPr/>
        </p:nvSpPr>
        <p:spPr>
          <a:xfrm>
            <a:off x="6111547" y="1237046"/>
            <a:ext cx="6024465" cy="5333260"/>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buNone/>
            </a:pPr>
            <a:r>
              <a:rPr lang="en-US" b="1" dirty="0"/>
              <a:t>Machine Learning for Digital Inclusion</a:t>
            </a:r>
          </a:p>
          <a:p>
            <a:pPr marL="0" indent="0">
              <a:buNone/>
            </a:pPr>
            <a:r>
              <a:rPr lang="en-US" b="1" dirty="0"/>
              <a:t>This Study</a:t>
            </a:r>
            <a:endParaRPr lang="en-US" dirty="0"/>
          </a:p>
          <a:p>
            <a:pPr marL="0" indent="0">
              <a:buNone/>
            </a:pPr>
            <a:r>
              <a:rPr lang="en-US" dirty="0"/>
              <a:t>Uses </a:t>
            </a:r>
            <a:r>
              <a:rPr lang="en-US" b="1" dirty="0"/>
              <a:t>Uganda Census microdata</a:t>
            </a:r>
            <a:endParaRPr lang="en-US" dirty="0"/>
          </a:p>
          <a:p>
            <a:pPr marL="0" indent="0">
              <a:buNone/>
            </a:pPr>
            <a:r>
              <a:rPr lang="en-US" dirty="0"/>
              <a:t>Applies </a:t>
            </a:r>
            <a:r>
              <a:rPr lang="en-US" b="1" dirty="0"/>
              <a:t>Machine Learning models</a:t>
            </a:r>
            <a:endParaRPr lang="en-US" dirty="0"/>
          </a:p>
          <a:p>
            <a:pPr marL="0" indent="0">
              <a:buNone/>
            </a:pPr>
            <a:r>
              <a:rPr lang="en-US" dirty="0"/>
              <a:t>Predicts </a:t>
            </a:r>
            <a:r>
              <a:rPr lang="en-US" b="1" dirty="0"/>
              <a:t>internet access status</a:t>
            </a:r>
            <a:endParaRPr lang="en-US" dirty="0"/>
          </a:p>
          <a:p>
            <a:pPr marL="0" indent="0">
              <a:buNone/>
            </a:pPr>
            <a:r>
              <a:rPr lang="en-US" dirty="0"/>
              <a:t>Identifies </a:t>
            </a:r>
            <a:r>
              <a:rPr lang="en-US" b="1" dirty="0"/>
              <a:t>key digital divide drivers</a:t>
            </a:r>
            <a:endParaRPr lang="en-US" dirty="0"/>
          </a:p>
          <a:p>
            <a:pPr marL="0" indent="0">
              <a:buNone/>
            </a:pPr>
            <a:r>
              <a:rPr lang="en-US" dirty="0"/>
              <a:t> Provide </a:t>
            </a:r>
            <a:r>
              <a:rPr lang="en-US" b="1" dirty="0"/>
              <a:t>data-driven insights</a:t>
            </a:r>
            <a:r>
              <a:rPr lang="en-US" dirty="0"/>
              <a:t> for</a:t>
            </a:r>
            <a:br>
              <a:rPr lang="en-US" dirty="0"/>
            </a:br>
            <a:r>
              <a:rPr lang="en-US" b="1" dirty="0"/>
              <a:t>inclusive digital transformation in Uganda</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160174" y="312930"/>
            <a:ext cx="11143702" cy="967059"/>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CORE CONCEPTS THAT DETERMINE INTERNET ACCESS</a:t>
            </a:r>
          </a:p>
        </p:txBody>
      </p:sp>
      <p:sp>
        <p:nvSpPr>
          <p:cNvPr id="121" name="Google Shape;121;p5"/>
          <p:cNvSpPr txBox="1">
            <a:spLocks noGrp="1"/>
          </p:cNvSpPr>
          <p:nvPr>
            <p:ph idx="1"/>
          </p:nvPr>
        </p:nvSpPr>
        <p:spPr>
          <a:xfrm>
            <a:off x="74645" y="1218385"/>
            <a:ext cx="5831633" cy="5127315"/>
          </a:xfrm>
          <a:prstGeom prst="rect">
            <a:avLst/>
          </a:prstGeom>
          <a:noFill/>
          <a:ln>
            <a:noFill/>
          </a:ln>
        </p:spPr>
        <p:txBody>
          <a:bodyPr spcFirstLastPara="1" wrap="square" lIns="91425" tIns="45700" rIns="91425" bIns="45700" anchor="t" anchorCtr="0">
            <a:normAutofit/>
          </a:bodyPr>
          <a:lstStyle/>
          <a:p>
            <a:pPr marL="0" indent="0">
              <a:buNone/>
            </a:pPr>
            <a:r>
              <a:rPr lang="en-US" b="1" dirty="0"/>
              <a:t>Digital inclusion  Global Perspective</a:t>
            </a:r>
          </a:p>
          <a:p>
            <a:pPr marL="0" indent="0">
              <a:buNone/>
            </a:pPr>
            <a:r>
              <a:rPr lang="en-US" b="1" dirty="0"/>
              <a:t>Internet access</a:t>
            </a:r>
            <a:r>
              <a:rPr lang="en-US" dirty="0"/>
              <a:t> →- key driver of </a:t>
            </a:r>
            <a:r>
              <a:rPr lang="en-US" b="1" dirty="0"/>
              <a:t>economic growth</a:t>
            </a:r>
            <a:endParaRPr lang="en-US" dirty="0"/>
          </a:p>
          <a:p>
            <a:pPr marL="0" indent="0">
              <a:buNone/>
            </a:pPr>
            <a:r>
              <a:rPr lang="en-US" dirty="0"/>
              <a:t>Strong gap: </a:t>
            </a:r>
            <a:r>
              <a:rPr lang="en-US" b="1" dirty="0"/>
              <a:t>urban vs rural</a:t>
            </a:r>
            <a:r>
              <a:rPr lang="en-US" dirty="0"/>
              <a:t>, </a:t>
            </a:r>
            <a:r>
              <a:rPr lang="en-US" b="1" dirty="0"/>
              <a:t>rich vs poor</a:t>
            </a:r>
            <a:endParaRPr lang="en-US" dirty="0"/>
          </a:p>
          <a:p>
            <a:pPr marL="0" indent="0">
              <a:buNone/>
            </a:pPr>
            <a:r>
              <a:rPr lang="en-US" dirty="0"/>
              <a:t>Developing countries → </a:t>
            </a:r>
            <a:r>
              <a:rPr lang="en-US" b="1" dirty="0"/>
              <a:t>slow digital inclusion</a:t>
            </a:r>
            <a:endParaRPr lang="en-US" dirty="0"/>
          </a:p>
          <a:p>
            <a:pPr marL="0" indent="0">
              <a:buNone/>
            </a:pPr>
            <a:r>
              <a:rPr lang="en-US" dirty="0"/>
              <a:t>Limited infrastructure → </a:t>
            </a:r>
            <a:r>
              <a:rPr lang="en-US" b="1" dirty="0"/>
              <a:t>major barrier</a:t>
            </a:r>
            <a:endParaRPr lang="en-US" dirty="0"/>
          </a:p>
        </p:txBody>
      </p:sp>
      <p:sp>
        <p:nvSpPr>
          <p:cNvPr id="2" name="Google Shape;121;p5">
            <a:extLst>
              <a:ext uri="{FF2B5EF4-FFF2-40B4-BE49-F238E27FC236}">
                <a16:creationId xmlns:a16="http://schemas.microsoft.com/office/drawing/2014/main" id="{C731ABB0-45F8-BF6A-27FD-6F222ED806DC}"/>
              </a:ext>
            </a:extLst>
          </p:cNvPr>
          <p:cNvSpPr txBox="1">
            <a:spLocks/>
          </p:cNvSpPr>
          <p:nvPr/>
        </p:nvSpPr>
        <p:spPr>
          <a:xfrm>
            <a:off x="6120882" y="1279989"/>
            <a:ext cx="5996473" cy="5127315"/>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buNone/>
            </a:pPr>
            <a:r>
              <a:rPr lang="en-US" b="1" dirty="0"/>
              <a:t>Research Gaps Identified</a:t>
            </a:r>
          </a:p>
          <a:p>
            <a:pPr marL="0" indent="0">
              <a:buNone/>
            </a:pPr>
            <a:r>
              <a:rPr lang="en-US" dirty="0"/>
              <a:t>Few studies using </a:t>
            </a:r>
            <a:r>
              <a:rPr lang="en-US" b="1" dirty="0"/>
              <a:t>Uganda census big data</a:t>
            </a:r>
            <a:endParaRPr lang="en-US" dirty="0"/>
          </a:p>
          <a:p>
            <a:pPr marL="0" indent="0">
              <a:buNone/>
            </a:pPr>
            <a:r>
              <a:rPr lang="en-US" dirty="0"/>
              <a:t>Limited work on </a:t>
            </a:r>
            <a:r>
              <a:rPr lang="en-US" b="1" dirty="0"/>
              <a:t>Positive-Unlabeled (PU) learning</a:t>
            </a:r>
            <a:endParaRPr lang="en-US" dirty="0"/>
          </a:p>
          <a:p>
            <a:pPr marL="0" indent="0">
              <a:buNone/>
            </a:pPr>
            <a:r>
              <a:rPr lang="en-US" dirty="0"/>
              <a:t>Weak focus on </a:t>
            </a:r>
            <a:r>
              <a:rPr lang="en-US" b="1" dirty="0"/>
              <a:t>multi-paradigm comparison</a:t>
            </a:r>
            <a:endParaRPr lang="en-US" dirty="0"/>
          </a:p>
          <a:p>
            <a:pPr marL="0" indent="0">
              <a:buNone/>
            </a:pPr>
            <a:r>
              <a:rPr lang="en-US" dirty="0"/>
              <a:t>Need for </a:t>
            </a:r>
            <a:r>
              <a:rPr lang="en-US" b="1" dirty="0"/>
              <a:t>large-scale household analysis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a:t>Problem Statements</a:t>
            </a:r>
            <a:endParaRPr/>
          </a:p>
        </p:txBody>
      </p:sp>
      <p:sp>
        <p:nvSpPr>
          <p:cNvPr id="115" name="Google Shape;115;p4"/>
          <p:cNvSpPr txBox="1">
            <a:spLocks noGrp="1"/>
          </p:cNvSpPr>
          <p:nvPr>
            <p:ph idx="1"/>
          </p:nvPr>
        </p:nvSpPr>
        <p:spPr>
          <a:xfrm>
            <a:off x="690465" y="1349685"/>
            <a:ext cx="4889241" cy="5127315"/>
          </a:xfrm>
          <a:prstGeom prst="rect">
            <a:avLst/>
          </a:prstGeom>
          <a:noFill/>
          <a:ln>
            <a:noFill/>
          </a:ln>
        </p:spPr>
        <p:txBody>
          <a:bodyPr spcFirstLastPara="1" wrap="square" lIns="91425" tIns="45700" rIns="91425" bIns="45700" anchor="t" anchorCtr="0">
            <a:normAutofit fontScale="92500" lnSpcReduction="10000"/>
          </a:bodyPr>
          <a:lstStyle/>
          <a:p>
            <a:pPr marL="0" indent="0">
              <a:spcBef>
                <a:spcPts val="0"/>
              </a:spcBef>
              <a:buNone/>
            </a:pPr>
            <a:r>
              <a:rPr lang="en-US" b="1" dirty="0"/>
              <a:t>Domain Application problem</a:t>
            </a:r>
          </a:p>
          <a:p>
            <a:pPr marL="0" indent="0">
              <a:spcBef>
                <a:spcPts val="0"/>
              </a:spcBef>
              <a:buNone/>
            </a:pPr>
            <a:r>
              <a:rPr lang="en-US" dirty="0"/>
              <a:t>Internet access &lt;10% of population</a:t>
            </a:r>
          </a:p>
          <a:p>
            <a:pPr marL="0" indent="0">
              <a:spcBef>
                <a:spcPts val="0"/>
              </a:spcBef>
              <a:buNone/>
            </a:pPr>
            <a:r>
              <a:rPr lang="en-US" dirty="0"/>
              <a:t>Rural population 75% with 5% access</a:t>
            </a:r>
          </a:p>
          <a:p>
            <a:pPr marL="0" indent="0">
              <a:spcBef>
                <a:spcPts val="0"/>
              </a:spcBef>
              <a:buNone/>
            </a:pPr>
            <a:r>
              <a:rPr lang="en-US" dirty="0"/>
              <a:t>Urban population 25% with 40% access</a:t>
            </a:r>
          </a:p>
          <a:p>
            <a:pPr marL="0" indent="0">
              <a:spcBef>
                <a:spcPts val="0"/>
              </a:spcBef>
              <a:buNone/>
            </a:pPr>
            <a:r>
              <a:rPr lang="en-US" dirty="0"/>
              <a:t>Kampala vs north 40% v 2% gap</a:t>
            </a:r>
          </a:p>
          <a:p>
            <a:pPr marL="0" indent="0">
              <a:spcBef>
                <a:spcPts val="0"/>
              </a:spcBef>
              <a:buNone/>
            </a:pPr>
            <a:r>
              <a:rPr lang="en-US" dirty="0"/>
              <a:t>Gender gap 25% male v 15% female</a:t>
            </a:r>
          </a:p>
          <a:p>
            <a:pPr marL="0" indent="0">
              <a:spcBef>
                <a:spcPts val="0"/>
              </a:spcBef>
              <a:buNone/>
            </a:pPr>
            <a:r>
              <a:rPr lang="en-US" dirty="0"/>
              <a:t>  some of the domain questions</a:t>
            </a:r>
          </a:p>
          <a:p>
            <a:pPr marL="0" indent="0">
              <a:spcBef>
                <a:spcPts val="0"/>
              </a:spcBef>
              <a:buNone/>
            </a:pPr>
            <a:r>
              <a:rPr lang="en-US" dirty="0"/>
              <a:t>  WHERE should we build internet infrastructure? </a:t>
            </a:r>
          </a:p>
          <a:p>
            <a:pPr marL="0" indent="0">
              <a:spcBef>
                <a:spcPts val="0"/>
              </a:spcBef>
              <a:buNone/>
            </a:pPr>
            <a:r>
              <a:rPr lang="en-US" dirty="0"/>
              <a:t> WHO is most likely to adopt internet?             </a:t>
            </a:r>
          </a:p>
          <a:p>
            <a:pPr marL="0" indent="0">
              <a:spcBef>
                <a:spcPts val="0"/>
              </a:spcBef>
              <a:buNone/>
            </a:pPr>
            <a:r>
              <a:rPr lang="en-US" dirty="0"/>
              <a:t> WHAT barriers prevent internet access?</a:t>
            </a:r>
          </a:p>
          <a:p>
            <a:pPr marL="0" indent="0">
              <a:spcBef>
                <a:spcPts val="0"/>
              </a:spcBef>
              <a:buNone/>
            </a:pPr>
            <a:r>
              <a:rPr lang="en-US" dirty="0"/>
              <a:t>  HOW can we bridge the digital divide?       </a:t>
            </a:r>
          </a:p>
          <a:p>
            <a:pPr marL="0" indent="0">
              <a:spcBef>
                <a:spcPts val="0"/>
              </a:spcBef>
              <a:buNone/>
            </a:pPr>
            <a:r>
              <a:rPr lang="en-US" dirty="0"/>
              <a:t> WHY do some regions have &lt;2% access?          </a:t>
            </a:r>
          </a:p>
        </p:txBody>
      </p:sp>
      <p:sp>
        <p:nvSpPr>
          <p:cNvPr id="2" name="Google Shape;115;p4">
            <a:extLst>
              <a:ext uri="{FF2B5EF4-FFF2-40B4-BE49-F238E27FC236}">
                <a16:creationId xmlns:a16="http://schemas.microsoft.com/office/drawing/2014/main" id="{610A68E3-62A6-A967-8D53-69A401050D70}"/>
              </a:ext>
            </a:extLst>
          </p:cNvPr>
          <p:cNvSpPr txBox="1">
            <a:spLocks/>
          </p:cNvSpPr>
          <p:nvPr/>
        </p:nvSpPr>
        <p:spPr>
          <a:xfrm>
            <a:off x="6303119" y="1150146"/>
            <a:ext cx="4889241" cy="5127315"/>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spcBef>
                <a:spcPts val="0"/>
              </a:spcBef>
              <a:buNone/>
            </a:pPr>
            <a:r>
              <a:rPr lang="en-US" b="1" dirty="0"/>
              <a:t>Computational Problem</a:t>
            </a:r>
          </a:p>
          <a:p>
            <a:pPr marL="0" indent="0">
              <a:spcBef>
                <a:spcPts val="0"/>
              </a:spcBef>
              <a:buNone/>
            </a:pPr>
            <a:r>
              <a:rPr lang="en-US" dirty="0"/>
              <a:t>Memory </a:t>
            </a:r>
          </a:p>
          <a:p>
            <a:pPr marL="0" indent="0">
              <a:spcBef>
                <a:spcPts val="0"/>
              </a:spcBef>
              <a:buNone/>
            </a:pPr>
            <a:r>
              <a:rPr lang="en-US" dirty="0"/>
              <a:t>Time</a:t>
            </a:r>
          </a:p>
          <a:p>
            <a:pPr marL="0" indent="0">
              <a:spcBef>
                <a:spcPts val="0"/>
              </a:spcBef>
              <a:buNone/>
            </a:pPr>
            <a:r>
              <a:rPr lang="en-US" dirty="0"/>
              <a:t>Scaling (standardization needed)</a:t>
            </a:r>
          </a:p>
          <a:p>
            <a:pPr marL="0" indent="0">
              <a:spcBef>
                <a:spcPts val="0"/>
              </a:spcBef>
              <a:buNone/>
            </a:pPr>
            <a:r>
              <a:rPr lang="en-US" dirty="0"/>
              <a:t>Encoding categorical variables</a:t>
            </a:r>
          </a:p>
          <a:p>
            <a:pPr marL="0" indent="0">
              <a:spcBef>
                <a:spcPts val="0"/>
              </a:spcBef>
              <a:buNone/>
            </a:pPr>
            <a:r>
              <a:rPr lang="en-US" dirty="0"/>
              <a:t>imbalance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DC6D-23D2-4AEE-ACE4-346616A8B50D}"/>
              </a:ext>
            </a:extLst>
          </p:cNvPr>
          <p:cNvSpPr>
            <a:spLocks noGrp="1"/>
          </p:cNvSpPr>
          <p:nvPr>
            <p:ph type="title"/>
          </p:nvPr>
        </p:nvSpPr>
        <p:spPr>
          <a:xfrm>
            <a:off x="1024128" y="585216"/>
            <a:ext cx="9720072" cy="549901"/>
          </a:xfrm>
        </p:spPr>
        <p:txBody>
          <a:bodyPr>
            <a:normAutofit fontScale="90000"/>
          </a:bodyPr>
          <a:lstStyle/>
          <a:p>
            <a:r>
              <a:rPr lang="en-US" dirty="0"/>
              <a:t>Objectives and future trends </a:t>
            </a:r>
          </a:p>
        </p:txBody>
      </p:sp>
      <p:sp>
        <p:nvSpPr>
          <p:cNvPr id="3" name="Content Placeholder 2">
            <a:extLst>
              <a:ext uri="{FF2B5EF4-FFF2-40B4-BE49-F238E27FC236}">
                <a16:creationId xmlns:a16="http://schemas.microsoft.com/office/drawing/2014/main" id="{8C793568-B402-401E-91DE-F468DCB37E43}"/>
              </a:ext>
            </a:extLst>
          </p:cNvPr>
          <p:cNvSpPr>
            <a:spLocks noGrp="1"/>
          </p:cNvSpPr>
          <p:nvPr>
            <p:ph sz="half" idx="1"/>
          </p:nvPr>
        </p:nvSpPr>
        <p:spPr>
          <a:xfrm>
            <a:off x="600456" y="1450428"/>
            <a:ext cx="5178552" cy="4858932"/>
          </a:xfrm>
        </p:spPr>
        <p:txBody>
          <a:bodyPr>
            <a:normAutofit lnSpcReduction="10000"/>
          </a:bodyPr>
          <a:lstStyle/>
          <a:p>
            <a:pPr marL="0" indent="0">
              <a:buNone/>
            </a:pPr>
            <a:r>
              <a:rPr lang="en-US" b="0" dirty="0">
                <a:effectLst/>
                <a:latin typeface="Consolas" panose="020B0609020204030204" pitchFamily="49" charset="0"/>
              </a:rPr>
              <a:t> To analyze the relationship between socioeconomic factors such as education level, occupation, income proxies, and household internet access in Uganda</a:t>
            </a:r>
          </a:p>
          <a:p>
            <a:pPr marL="0" indent="0">
              <a:buNone/>
            </a:pPr>
            <a:r>
              <a:rPr lang="en-US" b="0" dirty="0">
                <a:effectLst/>
                <a:latin typeface="Consolas" panose="020B0609020204030204" pitchFamily="49" charset="0"/>
              </a:rPr>
              <a:t> To determine why urban households have significantly higher internet access rates compared to rural households in Uganda</a:t>
            </a:r>
          </a:p>
          <a:p>
            <a:pPr marL="0" indent="0">
              <a:buNone/>
            </a:pPr>
            <a:r>
              <a:rPr lang="en-US" b="0" dirty="0">
                <a:effectLst/>
                <a:latin typeface="Consolas" panose="020B0609020204030204" pitchFamily="49" charset="0"/>
              </a:rPr>
              <a:t>To examine how geographic factors such as district, region, and rural-urban classification influence internet access patterns across Uganda</a:t>
            </a:r>
          </a:p>
          <a:p>
            <a:pPr marL="0" indent="0">
              <a:buNone/>
            </a:pPr>
            <a:r>
              <a:rPr lang="en-US" b="0" dirty="0">
                <a:effectLst/>
                <a:latin typeface="Consolas" panose="020B0609020204030204" pitchFamily="49" charset="0"/>
              </a:rPr>
              <a:t>To build a predictive model for household internet access</a:t>
            </a:r>
          </a:p>
          <a:p>
            <a:pPr marL="0" indent="0">
              <a:buNone/>
            </a:pPr>
            <a:endParaRPr lang="en-US" dirty="0"/>
          </a:p>
        </p:txBody>
      </p:sp>
      <p:sp>
        <p:nvSpPr>
          <p:cNvPr id="4" name="Content Placeholder 3">
            <a:extLst>
              <a:ext uri="{FF2B5EF4-FFF2-40B4-BE49-F238E27FC236}">
                <a16:creationId xmlns:a16="http://schemas.microsoft.com/office/drawing/2014/main" id="{7C1FF674-DA2B-485E-AE38-423169960B52}"/>
              </a:ext>
            </a:extLst>
          </p:cNvPr>
          <p:cNvSpPr>
            <a:spLocks noGrp="1"/>
          </p:cNvSpPr>
          <p:nvPr>
            <p:ph sz="half" idx="2"/>
          </p:nvPr>
        </p:nvSpPr>
        <p:spPr>
          <a:xfrm>
            <a:off x="5989320" y="1576552"/>
            <a:ext cx="5178552" cy="4732808"/>
          </a:xfrm>
        </p:spPr>
        <p:txBody>
          <a:bodyPr>
            <a:normAutofit lnSpcReduction="10000"/>
          </a:bodyPr>
          <a:lstStyle/>
          <a:p>
            <a:pPr marL="0" indent="0">
              <a:buNone/>
            </a:pPr>
            <a:r>
              <a:rPr lang="en-US" b="1" i="0" dirty="0">
                <a:effectLst/>
                <a:latin typeface="quote-cjk-patch"/>
              </a:rPr>
              <a:t>What are the strongest predictors</a:t>
            </a:r>
            <a:r>
              <a:rPr lang="en-US" b="0" i="0" dirty="0">
                <a:effectLst/>
                <a:latin typeface="quote-cjk-patch"/>
              </a:rPr>
              <a:t> of internet access among Ugandan households?</a:t>
            </a:r>
          </a:p>
          <a:p>
            <a:pPr marL="0" indent="0">
              <a:buNone/>
            </a:pPr>
            <a:r>
              <a:rPr lang="en-US" b="1" i="0" dirty="0">
                <a:effectLst/>
                <a:latin typeface="quote-cjk-patch"/>
              </a:rPr>
              <a:t>How does internet access vary</a:t>
            </a:r>
            <a:r>
              <a:rPr lang="en-US" b="0" i="0" dirty="0">
                <a:effectLst/>
                <a:latin typeface="quote-cjk-patch"/>
              </a:rPr>
              <a:t> across different regions and demographic groups?</a:t>
            </a:r>
          </a:p>
          <a:p>
            <a:pPr marL="0" indent="0">
              <a:buNone/>
            </a:pPr>
            <a:r>
              <a:rPr lang="en-US" b="1" i="0" dirty="0">
                <a:effectLst/>
                <a:latin typeface="quote-cjk-patch"/>
              </a:rPr>
              <a:t>Can unsupervised learning identify</a:t>
            </a:r>
            <a:r>
              <a:rPr lang="en-US" b="0" i="0" dirty="0">
                <a:effectLst/>
                <a:latin typeface="quote-cjk-patch"/>
              </a:rPr>
              <a:t> natural segments or clusters of digital inclusion without using labels?</a:t>
            </a:r>
            <a:endParaRPr lang="en-US" dirty="0">
              <a:latin typeface="quote-cjk-patch"/>
            </a:endParaRPr>
          </a:p>
          <a:p>
            <a:pPr marL="0" indent="0">
              <a:buNone/>
            </a:pPr>
            <a:r>
              <a:rPr lang="en-US" b="1" i="0" dirty="0">
                <a:effectLst/>
                <a:latin typeface="quote-cjk-patch"/>
              </a:rPr>
              <a:t>How effectively can we predict</a:t>
            </a:r>
            <a:r>
              <a:rPr lang="en-US" b="0" i="0" dirty="0">
                <a:effectLst/>
                <a:latin typeface="quote-cjk-patch"/>
              </a:rPr>
              <a:t> internet access when only a small fraction of data is labeled (semi-supervised scenario)?</a:t>
            </a:r>
          </a:p>
          <a:p>
            <a:pPr marL="0" indent="0">
              <a:buNone/>
            </a:pPr>
            <a:r>
              <a:rPr lang="en-US" b="1" i="0" dirty="0">
                <a:effectLst/>
                <a:latin typeface="quote-cjk-patch"/>
              </a:rPr>
              <a:t>Can PU learning techniques handle</a:t>
            </a:r>
            <a:r>
              <a:rPr lang="en-US" b="0" i="0" dirty="0">
                <a:effectLst/>
                <a:latin typeface="quote-cjk-patch"/>
              </a:rPr>
              <a:t> situations where "No Internet" responses may be unreliable or mislabeled?</a:t>
            </a:r>
            <a:endParaRPr lang="en-US" dirty="0">
              <a:latin typeface="quote-cjk-patch"/>
            </a:endParaRPr>
          </a:p>
          <a:p>
            <a:pPr marL="0" indent="0">
              <a:buNone/>
            </a:pPr>
            <a:r>
              <a:rPr lang="en-US" b="1" i="0" dirty="0">
                <a:effectLst/>
                <a:latin typeface="quote-cjk-patch"/>
              </a:rPr>
              <a:t>Which learning paradigm performs best</a:t>
            </a:r>
            <a:r>
              <a:rPr lang="en-US" b="0" i="0" dirty="0">
                <a:effectLst/>
                <a:latin typeface="quote-cjk-patch"/>
              </a:rPr>
              <a:t> for this problem considering accuracy, data efficiency, and interpretability?</a:t>
            </a:r>
          </a:p>
          <a:p>
            <a:pPr marL="0" indent="0">
              <a:buNone/>
            </a:pPr>
            <a:endParaRPr lang="en-US" dirty="0"/>
          </a:p>
        </p:txBody>
      </p:sp>
      <p:sp>
        <p:nvSpPr>
          <p:cNvPr id="5" name="Slide Number Placeholder 4">
            <a:extLst>
              <a:ext uri="{FF2B5EF4-FFF2-40B4-BE49-F238E27FC236}">
                <a16:creationId xmlns:a16="http://schemas.microsoft.com/office/drawing/2014/main" id="{6FD7EFFB-F710-4C37-A636-5453716FEECB}"/>
              </a:ext>
            </a:extLst>
          </p:cNvPr>
          <p:cNvSpPr>
            <a:spLocks noGrp="1"/>
          </p:cNvSpPr>
          <p:nvPr>
            <p:ph type="sldNum" sz="quarter" idx="12"/>
          </p:nvPr>
        </p:nvSpPr>
        <p:spPr/>
        <p:txBody>
          <a:bodyPr>
            <a:normAutofit/>
          </a:bodyPr>
          <a:lstStyle/>
          <a:p>
            <a:fld id="{00000000-1234-1234-1234-123412341234}" type="slidenum">
              <a:rPr lang="en-US" smtClean="0"/>
              <a:pPr/>
              <a:t>7</a:t>
            </a:fld>
            <a:endParaRPr lang="en-US"/>
          </a:p>
        </p:txBody>
      </p:sp>
    </p:spTree>
    <p:extLst>
      <p:ext uri="{BB962C8B-B14F-4D97-AF65-F5344CB8AC3E}">
        <p14:creationId xmlns:p14="http://schemas.microsoft.com/office/powerpoint/2010/main" val="372906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Research Contributions &amp; outputs</a:t>
            </a:r>
            <a:endParaRPr dirty="0"/>
          </a:p>
        </p:txBody>
      </p:sp>
      <p:sp>
        <p:nvSpPr>
          <p:cNvPr id="127" name="Google Shape;127;p6"/>
          <p:cNvSpPr txBox="1">
            <a:spLocks noGrp="1"/>
          </p:cNvSpPr>
          <p:nvPr>
            <p:ph idx="1"/>
          </p:nvPr>
        </p:nvSpPr>
        <p:spPr>
          <a:xfrm>
            <a:off x="1017037" y="975789"/>
            <a:ext cx="10674220" cy="5127315"/>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b="1" i="0" dirty="0">
                <a:effectLst/>
                <a:latin typeface="quote-cjk-patch"/>
              </a:rPr>
              <a:t>We developed</a:t>
            </a:r>
            <a:r>
              <a:rPr lang="en-US" b="0" i="0" dirty="0">
                <a:effectLst/>
                <a:latin typeface="quote-cjk-patch"/>
              </a:rPr>
              <a:t> the first comprehensive machine learning analysis of internet access patterns using the </a:t>
            </a:r>
            <a:r>
              <a:rPr lang="en-US" b="1" i="0" dirty="0">
                <a:effectLst/>
                <a:latin typeface="quote-cjk-patch"/>
              </a:rPr>
              <a:t>2014 Uganda National Population and Housing Census</a:t>
            </a:r>
          </a:p>
          <a:p>
            <a:pPr marL="0" indent="0">
              <a:spcBef>
                <a:spcPts val="0"/>
              </a:spcBef>
              <a:buNone/>
            </a:pPr>
            <a:r>
              <a:rPr lang="en-US" b="1" i="0" dirty="0">
                <a:effectLst/>
                <a:latin typeface="quote-cjk-patch"/>
              </a:rPr>
              <a:t>We built</a:t>
            </a:r>
            <a:r>
              <a:rPr lang="en-US" b="0" i="0" dirty="0">
                <a:effectLst/>
                <a:latin typeface="quote-cjk-patch"/>
              </a:rPr>
              <a:t> the first predictive model for internet access in Uganda, processing </a:t>
            </a:r>
            <a:r>
              <a:rPr lang="en-US" b="1" i="0" dirty="0">
                <a:effectLst/>
                <a:latin typeface="quote-cjk-patch"/>
              </a:rPr>
              <a:t>3.5 million</a:t>
            </a:r>
            <a:r>
              <a:rPr lang="en-US" b="0" i="0" dirty="0">
                <a:effectLst/>
                <a:latin typeface="quote-cjk-patch"/>
              </a:rPr>
              <a:t> records with </a:t>
            </a:r>
            <a:r>
              <a:rPr lang="en-US" b="1" i="0" dirty="0">
                <a:effectLst/>
                <a:latin typeface="quote-cjk-patch"/>
              </a:rPr>
              <a:t>216</a:t>
            </a:r>
            <a:r>
              <a:rPr lang="en-US" b="0" i="0" dirty="0">
                <a:effectLst/>
                <a:latin typeface="quote-cjk-patch"/>
              </a:rPr>
              <a:t> features</a:t>
            </a:r>
            <a:endParaRPr lang="en-US" b="1" dirty="0">
              <a:latin typeface="quote-cjk-patch"/>
            </a:endParaRPr>
          </a:p>
          <a:p>
            <a:pPr marL="0" indent="0">
              <a:spcBef>
                <a:spcPts val="0"/>
              </a:spcBef>
              <a:buNone/>
            </a:pPr>
            <a:r>
              <a:rPr lang="en-US" b="1" i="0" dirty="0">
                <a:effectLst/>
                <a:latin typeface="quote-cjk-patch"/>
              </a:rPr>
              <a:t>We compared</a:t>
            </a:r>
            <a:r>
              <a:rPr lang="en-US" b="0" i="0" dirty="0">
                <a:effectLst/>
                <a:latin typeface="quote-cjk-patch"/>
              </a:rPr>
              <a:t> all four paradigms on the same dataset a first in Ugandan digital divide research</a:t>
            </a:r>
            <a:endParaRPr lang="en-US" b="1" i="0" dirty="0">
              <a:effectLst/>
              <a:latin typeface="quote-cjk-patch"/>
            </a:endParaRPr>
          </a:p>
          <a:p>
            <a:pPr marL="0" indent="0">
              <a:spcBef>
                <a:spcPts val="0"/>
              </a:spcBef>
              <a:buNone/>
            </a:pPr>
            <a:r>
              <a:rPr lang="en-US" b="1" i="0" dirty="0">
                <a:effectLst/>
                <a:latin typeface="quote-cjk-patch"/>
              </a:rPr>
              <a:t>We identified</a:t>
            </a:r>
            <a:r>
              <a:rPr lang="en-US" b="0" i="0" dirty="0">
                <a:effectLst/>
                <a:latin typeface="quote-cjk-patch"/>
              </a:rPr>
              <a:t> three natural clusters of digital inclusion using unsupervised K-Means</a:t>
            </a:r>
            <a:endParaRPr lang="en-US" b="1" dirty="0">
              <a:latin typeface="quote-cjk-patch"/>
            </a:endParaRPr>
          </a:p>
          <a:p>
            <a:pPr marL="0" indent="0">
              <a:spcBef>
                <a:spcPts val="0"/>
              </a:spcBef>
              <a:buNone/>
            </a:pPr>
            <a:r>
              <a:rPr lang="en-US" b="1" i="0" dirty="0">
                <a:effectLst/>
                <a:latin typeface="quote-cjk-patch"/>
              </a:rPr>
              <a:t>We shall  deploy</a:t>
            </a:r>
            <a:r>
              <a:rPr lang="en-US" b="0" i="0" dirty="0">
                <a:effectLst/>
                <a:latin typeface="quote-cjk-patch"/>
              </a:rPr>
              <a:t> a self-training semi-supervised classifier on only </a:t>
            </a:r>
            <a:r>
              <a:rPr lang="en-US" b="1" i="0" dirty="0">
                <a:effectLst/>
                <a:latin typeface="quote-cjk-patch"/>
              </a:rPr>
              <a:t>20% labeled data</a:t>
            </a:r>
          </a:p>
        </p:txBody>
      </p:sp>
    </p:spTree>
    <p:extLst>
      <p:ext uri="{BB962C8B-B14F-4D97-AF65-F5344CB8AC3E}">
        <p14:creationId xmlns:p14="http://schemas.microsoft.com/office/powerpoint/2010/main" val="245747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7" name="Title 6">
            <a:extLst>
              <a:ext uri="{FF2B5EF4-FFF2-40B4-BE49-F238E27FC236}">
                <a16:creationId xmlns:a16="http://schemas.microsoft.com/office/drawing/2014/main" id="{ACEC6182-206D-48B3-B2FA-0A5C74B213F0}"/>
              </a:ext>
            </a:extLst>
          </p:cNvPr>
          <p:cNvSpPr>
            <a:spLocks noGrp="1"/>
          </p:cNvSpPr>
          <p:nvPr>
            <p:ph type="title"/>
          </p:nvPr>
        </p:nvSpPr>
        <p:spPr>
          <a:xfrm>
            <a:off x="1484311" y="685801"/>
            <a:ext cx="10018713" cy="938048"/>
          </a:xfrm>
        </p:spPr>
        <p:txBody>
          <a:bodyPr/>
          <a:lstStyle/>
          <a:p>
            <a:r>
              <a:rPr lang="en-US" dirty="0"/>
              <a:t>METHODOLOGY</a:t>
            </a:r>
          </a:p>
        </p:txBody>
      </p:sp>
      <p:pic>
        <p:nvPicPr>
          <p:cNvPr id="11" name="Content Placeholder 10">
            <a:extLst>
              <a:ext uri="{FF2B5EF4-FFF2-40B4-BE49-F238E27FC236}">
                <a16:creationId xmlns:a16="http://schemas.microsoft.com/office/drawing/2014/main" id="{681B10D4-2543-4BED-B462-324258EF8E86}"/>
              </a:ext>
            </a:extLst>
          </p:cNvPr>
          <p:cNvPicPr>
            <a:picLocks noGrp="1" noChangeAspect="1"/>
          </p:cNvPicPr>
          <p:nvPr>
            <p:ph idx="1"/>
          </p:nvPr>
        </p:nvPicPr>
        <p:blipFill>
          <a:blip r:embed="rId3"/>
          <a:stretch>
            <a:fillRect/>
          </a:stretch>
        </p:blipFill>
        <p:spPr>
          <a:xfrm>
            <a:off x="1277007" y="2041234"/>
            <a:ext cx="10018713" cy="4359565"/>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99108186-81FE-8EFD-9802-D453706A2787}"/>
            </a:ext>
          </a:extLst>
        </p:cNvPr>
        <p:cNvGrpSpPr/>
        <p:nvPr/>
      </p:nvGrpSpPr>
      <p:grpSpPr>
        <a:xfrm>
          <a:off x="0" y="0"/>
          <a:ext cx="0" cy="0"/>
          <a:chOff x="0" y="0"/>
          <a:chExt cx="0" cy="0"/>
        </a:xfrm>
      </p:grpSpPr>
      <p:sp>
        <p:nvSpPr>
          <p:cNvPr id="132" name="Google Shape;132;p7">
            <a:extLst>
              <a:ext uri="{FF2B5EF4-FFF2-40B4-BE49-F238E27FC236}">
                <a16:creationId xmlns:a16="http://schemas.microsoft.com/office/drawing/2014/main" id="{EE032C69-59AC-68B2-8F14-19DA00D4BA43}"/>
              </a:ext>
            </a:extLst>
          </p:cNvPr>
          <p:cNvSpPr txBox="1">
            <a:spLocks noGrp="1"/>
          </p:cNvSpPr>
          <p:nvPr>
            <p:ph type="title"/>
          </p:nvPr>
        </p:nvSpPr>
        <p:spPr>
          <a:xfrm>
            <a:off x="587829" y="474306"/>
            <a:ext cx="10730204"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DATASET DESCRIPTION</a:t>
            </a:r>
          </a:p>
        </p:txBody>
      </p:sp>
      <p:sp>
        <p:nvSpPr>
          <p:cNvPr id="133" name="Google Shape;133;p7">
            <a:extLst>
              <a:ext uri="{FF2B5EF4-FFF2-40B4-BE49-F238E27FC236}">
                <a16:creationId xmlns:a16="http://schemas.microsoft.com/office/drawing/2014/main" id="{7ADDF942-C187-9A3C-0197-51DA95F9B52D}"/>
              </a:ext>
            </a:extLst>
          </p:cNvPr>
          <p:cNvSpPr txBox="1">
            <a:spLocks noGrp="1"/>
          </p:cNvSpPr>
          <p:nvPr>
            <p:ph idx="1"/>
          </p:nvPr>
        </p:nvSpPr>
        <p:spPr>
          <a:xfrm>
            <a:off x="345233" y="1069096"/>
            <a:ext cx="2817846" cy="5127315"/>
          </a:xfrm>
          <a:prstGeom prst="rect">
            <a:avLst/>
          </a:prstGeom>
          <a:noFill/>
          <a:ln>
            <a:noFill/>
          </a:ln>
        </p:spPr>
        <p:txBody>
          <a:bodyPr spcFirstLastPara="1" wrap="square" lIns="91425" tIns="45700" rIns="91425" bIns="45700" anchor="t" anchorCtr="0">
            <a:normAutofit/>
          </a:bodyPr>
          <a:lstStyle/>
          <a:p>
            <a:pPr marL="342900" indent="-342900">
              <a:spcBef>
                <a:spcPts val="0"/>
              </a:spcBef>
            </a:pPr>
            <a:r>
              <a:rPr lang="en-US" b="0" i="1" dirty="0">
                <a:effectLst/>
                <a:latin typeface="quote-cjk-patch"/>
              </a:rPr>
              <a:t>Uganda National Population and Housing Census (10% Sample</a:t>
            </a:r>
          </a:p>
          <a:p>
            <a:pPr marL="342900" indent="-342900">
              <a:spcBef>
                <a:spcPts val="0"/>
              </a:spcBef>
            </a:pPr>
            <a:r>
              <a:rPr lang="en-US" b="0" i="0" dirty="0">
                <a:effectLst/>
                <a:latin typeface="quote-cjk-patch"/>
              </a:rPr>
              <a:t>Uganda Bureau of Statistics (UBOS) 2014</a:t>
            </a:r>
            <a:endParaRPr dirty="0"/>
          </a:p>
          <a:p>
            <a:pPr marL="342900" indent="-190500">
              <a:buNone/>
            </a:pPr>
            <a:r>
              <a:rPr lang="en-US" dirty="0"/>
              <a:t>Rows </a:t>
            </a:r>
            <a:r>
              <a:rPr lang="en-US" b="1" i="0" dirty="0">
                <a:effectLst/>
                <a:latin typeface="quote-cjk-patch"/>
              </a:rPr>
              <a:t>3,504,526</a:t>
            </a:r>
          </a:p>
          <a:p>
            <a:pPr marL="342900" indent="-190500">
              <a:buNone/>
            </a:pPr>
            <a:r>
              <a:rPr lang="en-US" b="1" dirty="0" err="1">
                <a:latin typeface="quote-cjk-patch"/>
              </a:rPr>
              <a:t>Colums</a:t>
            </a:r>
            <a:r>
              <a:rPr lang="en-US" b="1" dirty="0">
                <a:latin typeface="quote-cjk-patch"/>
              </a:rPr>
              <a:t> </a:t>
            </a:r>
            <a:r>
              <a:rPr lang="en-US" b="1" i="0" dirty="0">
                <a:effectLst/>
                <a:latin typeface="quote-cjk-patch"/>
              </a:rPr>
              <a:t>216</a:t>
            </a:r>
          </a:p>
          <a:p>
            <a:pPr marL="342900" indent="-190500">
              <a:buNone/>
            </a:pPr>
            <a:endParaRPr dirty="0"/>
          </a:p>
        </p:txBody>
      </p:sp>
      <p:sp>
        <p:nvSpPr>
          <p:cNvPr id="2" name="Google Shape;133;p7">
            <a:extLst>
              <a:ext uri="{FF2B5EF4-FFF2-40B4-BE49-F238E27FC236}">
                <a16:creationId xmlns:a16="http://schemas.microsoft.com/office/drawing/2014/main" id="{0693850C-CB9F-3A46-4165-3A586AA29402}"/>
              </a:ext>
            </a:extLst>
          </p:cNvPr>
          <p:cNvSpPr txBox="1">
            <a:spLocks/>
          </p:cNvSpPr>
          <p:nvPr/>
        </p:nvSpPr>
        <p:spPr>
          <a:xfrm>
            <a:off x="3977951" y="1174843"/>
            <a:ext cx="8021216" cy="5127315"/>
          </a:xfrm>
          <a:prstGeom prst="rect">
            <a:avLst/>
          </a:prstGeom>
          <a:noFill/>
          <a:ln>
            <a:noFill/>
          </a:ln>
        </p:spPr>
        <p:txBody>
          <a:bodyPr spcFirstLastPara="1" vert="horz" wrap="square" lIns="91425" tIns="45700" rIns="91425" bIns="45700" rtlCol="0" anchor="t" anchorCtr="0">
            <a:normAutofit lnSpcReduction="10000"/>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spcBef>
                <a:spcPts val="0"/>
              </a:spcBef>
              <a:buNone/>
            </a:pPr>
            <a:r>
              <a:rPr lang="en-US" b="0" i="1" dirty="0">
                <a:effectLst/>
                <a:latin typeface="quote-cjk-patch"/>
              </a:rPr>
              <a:t>Human Development Report Office – Uganda</a:t>
            </a:r>
          </a:p>
          <a:p>
            <a:pPr marL="0" indent="0">
              <a:spcBef>
                <a:spcPts val="0"/>
              </a:spcBef>
              <a:buNone/>
            </a:pPr>
            <a:r>
              <a:rPr lang="en-US" i="1" dirty="0">
                <a:latin typeface="quote-cjk-patch"/>
              </a:rPr>
              <a:t>Provider </a:t>
            </a:r>
            <a:r>
              <a:rPr lang="en-US" b="0" i="0" dirty="0">
                <a:effectLst/>
                <a:latin typeface="quote-cjk-patch"/>
              </a:rPr>
              <a:t>UNDP Human Development Report Office</a:t>
            </a:r>
            <a:endParaRPr lang="en-US" i="1" dirty="0">
              <a:latin typeface="quote-cjk-patch"/>
            </a:endParaRPr>
          </a:p>
          <a:p>
            <a:pPr marL="0" indent="0">
              <a:spcBef>
                <a:spcPts val="0"/>
              </a:spcBef>
              <a:buNone/>
            </a:pPr>
            <a:r>
              <a:rPr lang="en-US" i="1" dirty="0">
                <a:latin typeface="quote-cjk-patch"/>
              </a:rPr>
              <a:t>Year </a:t>
            </a:r>
            <a:r>
              <a:rPr lang="en-US" b="0" i="0" dirty="0">
                <a:effectLst/>
                <a:latin typeface="quote-cjk-patch"/>
              </a:rPr>
              <a:t>1990 – 2023</a:t>
            </a:r>
            <a:endParaRPr lang="en-US" b="0" i="1" dirty="0">
              <a:effectLst/>
              <a:latin typeface="quote-cjk-patch"/>
            </a:endParaRPr>
          </a:p>
          <a:p>
            <a:pPr marL="0" indent="0">
              <a:spcBef>
                <a:spcPts val="0"/>
              </a:spcBef>
              <a:buNone/>
            </a:pPr>
            <a:r>
              <a:rPr lang="en-US" i="1" dirty="0">
                <a:latin typeface="quote-cjk-patch"/>
              </a:rPr>
              <a:t>Rows </a:t>
            </a:r>
            <a:r>
              <a:rPr lang="en-US" b="1" i="0" dirty="0">
                <a:effectLst/>
                <a:latin typeface="quote-cjk-patch"/>
              </a:rPr>
              <a:t>911</a:t>
            </a:r>
            <a:endParaRPr lang="en-US" i="1" dirty="0">
              <a:latin typeface="quote-cjk-patch"/>
            </a:endParaRPr>
          </a:p>
          <a:p>
            <a:pPr marL="0" indent="0">
              <a:spcBef>
                <a:spcPts val="0"/>
              </a:spcBef>
              <a:buNone/>
            </a:pPr>
            <a:r>
              <a:rPr lang="en-US" i="1" dirty="0">
                <a:latin typeface="quote-cjk-patch"/>
              </a:rPr>
              <a:t>Columns </a:t>
            </a:r>
            <a:r>
              <a:rPr lang="en-US" b="1" i="0" dirty="0">
                <a:effectLst/>
                <a:latin typeface="quote-cjk-patch"/>
              </a:rPr>
              <a:t>8</a:t>
            </a:r>
          </a:p>
          <a:p>
            <a:pPr marL="0" indent="0">
              <a:spcBef>
                <a:spcPts val="0"/>
              </a:spcBef>
              <a:buNone/>
            </a:pPr>
            <a:r>
              <a:rPr lang="en-US" dirty="0"/>
              <a:t>country_code UGA, country_name Uganda, indicator_id Short code (e.g., 'le', '</a:t>
            </a:r>
            <a:r>
              <a:rPr lang="en-US" dirty="0" err="1"/>
              <a:t>eys</a:t>
            </a:r>
            <a:r>
              <a:rPr lang="en-US" dirty="0"/>
              <a:t>'), indicator_name Full description, index_id Associated index (e.g., HDI, GII), index_name Index description, value Numeric value, year 1990–2023</a:t>
            </a:r>
          </a:p>
          <a:p>
            <a:pPr marL="0" indent="0">
              <a:spcBef>
                <a:spcPts val="0"/>
              </a:spcBef>
              <a:buNone/>
            </a:pPr>
            <a:endParaRPr lang="en-US" b="1" i="1" dirty="0">
              <a:effectLst/>
              <a:latin typeface="quote-cjk-patch"/>
            </a:endParaRPr>
          </a:p>
          <a:p>
            <a:pPr marL="0" indent="0">
              <a:spcBef>
                <a:spcPts val="0"/>
              </a:spcBef>
              <a:buNone/>
            </a:pPr>
            <a:r>
              <a:rPr lang="en-US" dirty="0"/>
              <a:t>Demographics: age, sex, marital status, religion, ethnicity; Education: literacy, Grade (highest completed), attending (currently in school); Asset Ownership: phone, computer, television, radio, motor vehicle, motorcycle, bicycle; Household Characteristics: rururb (urban/rural), Region15 (admin region), district, energy source, water source, toilet type, dwelling type; Economic: bank_account, livelihood, remittances, agriculture activity; Target Variable: internet (1 = Yes, 2 = No)</a:t>
            </a:r>
          </a:p>
        </p:txBody>
      </p:sp>
    </p:spTree>
    <p:extLst>
      <p:ext uri="{BB962C8B-B14F-4D97-AF65-F5344CB8AC3E}">
        <p14:creationId xmlns:p14="http://schemas.microsoft.com/office/powerpoint/2010/main" val="381437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DFDE-DB57-43B8-998C-ACD80580A347}"/>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884EF3E9-E15A-42B7-A63B-A5499EFA2C85}"/>
              </a:ext>
            </a:extLst>
          </p:cNvPr>
          <p:cNvSpPr>
            <a:spLocks noGrp="1"/>
          </p:cNvSpPr>
          <p:nvPr>
            <p:ph idx="1"/>
          </p:nvPr>
        </p:nvSpPr>
        <p:spPr/>
        <p:txBody>
          <a:bodyPr/>
          <a:lstStyle/>
          <a:p>
            <a:r>
              <a:rPr lang="en-US" dirty="0"/>
              <a:t>We deed data cleaning to check for missing values and data preprocessing to check on sanity and shape of the dataset </a:t>
            </a:r>
          </a:p>
          <a:p>
            <a:r>
              <a:rPr lang="en-US" dirty="0"/>
              <a:t>The data set have Rows  </a:t>
            </a:r>
            <a:r>
              <a:rPr lang="en-US" b="0" i="0" dirty="0">
                <a:effectLst/>
                <a:latin typeface="Consolas" panose="020B0609020204030204" pitchFamily="49" charset="0"/>
              </a:rPr>
              <a:t>3504526, columns 216 </a:t>
            </a:r>
            <a:r>
              <a:rPr lang="en-US" b="0" dirty="0">
                <a:effectLst/>
                <a:latin typeface="Consolas" panose="020B0609020204030204" pitchFamily="49" charset="0"/>
              </a:rPr>
              <a:t>df.info()</a:t>
            </a:r>
          </a:p>
          <a:p>
            <a:r>
              <a:rPr lang="en-US" b="0" dirty="0">
                <a:effectLst/>
                <a:latin typeface="Consolas" panose="020B0609020204030204" pitchFamily="49" charset="0"/>
              </a:rPr>
              <a:t>df.describe() showing the following </a:t>
            </a:r>
          </a:p>
          <a:p>
            <a:r>
              <a:rPr lang="en-US" b="0" i="0" dirty="0">
                <a:effectLst/>
                <a:latin typeface="Consolas" panose="020B0609020204030204" pitchFamily="49" charset="0"/>
              </a:rPr>
              <a:t> </a:t>
            </a:r>
          </a:p>
          <a:p>
            <a:endParaRPr lang="en-US" b="0" i="0" dirty="0">
              <a:effectLst/>
              <a:latin typeface="Consolas" panose="020B0609020204030204" pitchFamily="49" charset="0"/>
            </a:endParaRPr>
          </a:p>
          <a:p>
            <a:endParaRPr lang="en-US" dirty="0"/>
          </a:p>
        </p:txBody>
      </p:sp>
      <p:sp>
        <p:nvSpPr>
          <p:cNvPr id="4" name="Slide Number Placeholder 3">
            <a:extLst>
              <a:ext uri="{FF2B5EF4-FFF2-40B4-BE49-F238E27FC236}">
                <a16:creationId xmlns:a16="http://schemas.microsoft.com/office/drawing/2014/main" id="{75A85F0F-3FEE-4ED4-9413-96B4203438CC}"/>
              </a:ext>
            </a:extLst>
          </p:cNvPr>
          <p:cNvSpPr>
            <a:spLocks noGrp="1"/>
          </p:cNvSpPr>
          <p:nvPr>
            <p:ph type="sldNum" sz="quarter" idx="12"/>
          </p:nvPr>
        </p:nvSpPr>
        <p:spPr/>
        <p:txBody>
          <a:bodyPr>
            <a:normAutofit/>
          </a:bodyPr>
          <a:lstStyle/>
          <a:p>
            <a:fld id="{0428C338-E682-4B46-9632-D57B5813D090}" type="slidenum">
              <a:rPr lang="en-US" smtClean="0"/>
              <a:t>11</a:t>
            </a:fld>
            <a:endParaRPr lang="en-US"/>
          </a:p>
        </p:txBody>
      </p:sp>
      <p:pic>
        <p:nvPicPr>
          <p:cNvPr id="6" name="Picture 5">
            <a:extLst>
              <a:ext uri="{FF2B5EF4-FFF2-40B4-BE49-F238E27FC236}">
                <a16:creationId xmlns:a16="http://schemas.microsoft.com/office/drawing/2014/main" id="{FFFCC6F8-331F-46E9-9531-6E2C6A9D5ED2}"/>
              </a:ext>
            </a:extLst>
          </p:cNvPr>
          <p:cNvPicPr>
            <a:picLocks noChangeAspect="1"/>
          </p:cNvPicPr>
          <p:nvPr/>
        </p:nvPicPr>
        <p:blipFill>
          <a:blip r:embed="rId2"/>
          <a:stretch>
            <a:fillRect/>
          </a:stretch>
        </p:blipFill>
        <p:spPr>
          <a:xfrm>
            <a:off x="1655378" y="3829967"/>
            <a:ext cx="8292663" cy="2915057"/>
          </a:xfrm>
          <a:prstGeom prst="rect">
            <a:avLst/>
          </a:prstGeom>
        </p:spPr>
      </p:pic>
    </p:spTree>
    <p:extLst>
      <p:ext uri="{BB962C8B-B14F-4D97-AF65-F5344CB8AC3E}">
        <p14:creationId xmlns:p14="http://schemas.microsoft.com/office/powerpoint/2010/main" val="2698135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1981200" y="381000"/>
            <a:ext cx="9784702"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VISUALIZATIONS </a:t>
            </a:r>
          </a:p>
        </p:txBody>
      </p:sp>
      <p:sp>
        <p:nvSpPr>
          <p:cNvPr id="140" name="Google Shape;140;p8"/>
          <p:cNvSpPr txBox="1">
            <a:spLocks noGrp="1"/>
          </p:cNvSpPr>
          <p:nvPr>
            <p:ph idx="1"/>
          </p:nvPr>
        </p:nvSpPr>
        <p:spPr>
          <a:xfrm>
            <a:off x="849086" y="975789"/>
            <a:ext cx="10916816" cy="5630284"/>
          </a:xfrm>
          <a:prstGeom prst="rect">
            <a:avLst/>
          </a:prstGeom>
          <a:noFill/>
          <a:ln>
            <a:noFill/>
          </a:ln>
        </p:spPr>
        <p:txBody>
          <a:bodyPr spcFirstLastPara="1" wrap="square" lIns="91425" tIns="45700" rIns="91425" bIns="45700" anchor="t" anchorCtr="0">
            <a:normAutofit/>
          </a:bodyPr>
          <a:lstStyle/>
          <a:p>
            <a:pPr marL="342900" indent="-342900">
              <a:spcBef>
                <a:spcPts val="0"/>
              </a:spcBef>
            </a:pPr>
            <a:r>
              <a:rPr lang="en-US" dirty="0"/>
              <a:t>To show results use figures, tables, graphs with clear axis, legend, and scaling </a:t>
            </a:r>
            <a:endParaRPr dirty="0"/>
          </a:p>
          <a:p>
            <a:pPr marL="342900" indent="-190500">
              <a:buNone/>
            </a:pPr>
            <a:endParaRPr dirty="0"/>
          </a:p>
        </p:txBody>
      </p:sp>
      <p:pic>
        <p:nvPicPr>
          <p:cNvPr id="8" name="Picture 7">
            <a:extLst>
              <a:ext uri="{FF2B5EF4-FFF2-40B4-BE49-F238E27FC236}">
                <a16:creationId xmlns:a16="http://schemas.microsoft.com/office/drawing/2014/main" id="{E6D20832-C839-4246-A31A-B7EED4D3038D}"/>
              </a:ext>
            </a:extLst>
          </p:cNvPr>
          <p:cNvPicPr>
            <a:picLocks noChangeAspect="1"/>
          </p:cNvPicPr>
          <p:nvPr/>
        </p:nvPicPr>
        <p:blipFill>
          <a:blip r:embed="rId3"/>
          <a:stretch>
            <a:fillRect/>
          </a:stretch>
        </p:blipFill>
        <p:spPr>
          <a:xfrm>
            <a:off x="164832" y="832713"/>
            <a:ext cx="3937528" cy="3188782"/>
          </a:xfrm>
          <a:prstGeom prst="rect">
            <a:avLst/>
          </a:prstGeom>
        </p:spPr>
      </p:pic>
      <p:pic>
        <p:nvPicPr>
          <p:cNvPr id="10" name="Picture 9">
            <a:extLst>
              <a:ext uri="{FF2B5EF4-FFF2-40B4-BE49-F238E27FC236}">
                <a16:creationId xmlns:a16="http://schemas.microsoft.com/office/drawing/2014/main" id="{1E054934-8854-4533-B12B-A07435693098}"/>
              </a:ext>
            </a:extLst>
          </p:cNvPr>
          <p:cNvPicPr>
            <a:picLocks noChangeAspect="1"/>
          </p:cNvPicPr>
          <p:nvPr/>
        </p:nvPicPr>
        <p:blipFill>
          <a:blip r:embed="rId4"/>
          <a:stretch>
            <a:fillRect/>
          </a:stretch>
        </p:blipFill>
        <p:spPr>
          <a:xfrm>
            <a:off x="4068147" y="948862"/>
            <a:ext cx="4055708" cy="2981510"/>
          </a:xfrm>
          <a:prstGeom prst="rect">
            <a:avLst/>
          </a:prstGeom>
        </p:spPr>
      </p:pic>
      <p:pic>
        <p:nvPicPr>
          <p:cNvPr id="12" name="Picture 11">
            <a:extLst>
              <a:ext uri="{FF2B5EF4-FFF2-40B4-BE49-F238E27FC236}">
                <a16:creationId xmlns:a16="http://schemas.microsoft.com/office/drawing/2014/main" id="{FD7C93C6-66CE-4139-B207-15D2D3413752}"/>
              </a:ext>
            </a:extLst>
          </p:cNvPr>
          <p:cNvPicPr>
            <a:picLocks noChangeAspect="1"/>
          </p:cNvPicPr>
          <p:nvPr/>
        </p:nvPicPr>
        <p:blipFill>
          <a:blip r:embed="rId5"/>
          <a:stretch>
            <a:fillRect/>
          </a:stretch>
        </p:blipFill>
        <p:spPr>
          <a:xfrm>
            <a:off x="8123855" y="948861"/>
            <a:ext cx="3925066" cy="2899839"/>
          </a:xfrm>
          <a:prstGeom prst="rect">
            <a:avLst/>
          </a:prstGeom>
        </p:spPr>
      </p:pic>
      <p:pic>
        <p:nvPicPr>
          <p:cNvPr id="14" name="Picture 13">
            <a:extLst>
              <a:ext uri="{FF2B5EF4-FFF2-40B4-BE49-F238E27FC236}">
                <a16:creationId xmlns:a16="http://schemas.microsoft.com/office/drawing/2014/main" id="{EF72EA6D-8C8E-4F86-8154-921CE52EC4FA}"/>
              </a:ext>
            </a:extLst>
          </p:cNvPr>
          <p:cNvPicPr>
            <a:picLocks noChangeAspect="1"/>
          </p:cNvPicPr>
          <p:nvPr/>
        </p:nvPicPr>
        <p:blipFill>
          <a:blip r:embed="rId6"/>
          <a:stretch>
            <a:fillRect/>
          </a:stretch>
        </p:blipFill>
        <p:spPr>
          <a:xfrm>
            <a:off x="12256" y="3703320"/>
            <a:ext cx="4158537" cy="3579640"/>
          </a:xfrm>
          <a:prstGeom prst="rect">
            <a:avLst/>
          </a:prstGeom>
        </p:spPr>
      </p:pic>
      <p:pic>
        <p:nvPicPr>
          <p:cNvPr id="16" name="Picture 15">
            <a:extLst>
              <a:ext uri="{FF2B5EF4-FFF2-40B4-BE49-F238E27FC236}">
                <a16:creationId xmlns:a16="http://schemas.microsoft.com/office/drawing/2014/main" id="{718E90D3-8C91-4F4A-B31F-47D5FD0AAF3A}"/>
              </a:ext>
            </a:extLst>
          </p:cNvPr>
          <p:cNvPicPr>
            <a:picLocks noChangeAspect="1"/>
          </p:cNvPicPr>
          <p:nvPr/>
        </p:nvPicPr>
        <p:blipFill>
          <a:blip r:embed="rId7"/>
          <a:stretch>
            <a:fillRect/>
          </a:stretch>
        </p:blipFill>
        <p:spPr>
          <a:xfrm>
            <a:off x="4170793" y="3703320"/>
            <a:ext cx="4158537" cy="35185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1981200" y="457201"/>
            <a:ext cx="8077200" cy="282885"/>
          </a:xfrm>
          <a:prstGeom prst="rect">
            <a:avLst/>
          </a:prstGeom>
          <a:noFill/>
          <a:ln>
            <a:noFill/>
          </a:ln>
        </p:spPr>
        <p:txBody>
          <a:bodyPr spcFirstLastPara="1" wrap="square" lIns="91425" tIns="45700" rIns="91425" bIns="45700" anchor="ctr" anchorCtr="0">
            <a:noAutofit/>
          </a:bodyPr>
          <a:lstStyle/>
          <a:p>
            <a:pPr>
              <a:buSzPts val="2800"/>
            </a:pPr>
            <a:r>
              <a:rPr lang="en-US" dirty="0"/>
              <a:t>Bivariate analysis</a:t>
            </a:r>
            <a:endParaRPr dirty="0"/>
          </a:p>
        </p:txBody>
      </p:sp>
      <p:pic>
        <p:nvPicPr>
          <p:cNvPr id="6" name="Content Placeholder 5">
            <a:extLst>
              <a:ext uri="{FF2B5EF4-FFF2-40B4-BE49-F238E27FC236}">
                <a16:creationId xmlns:a16="http://schemas.microsoft.com/office/drawing/2014/main" id="{0B4D7ED8-3A29-4E67-AC8D-55B819447877}"/>
              </a:ext>
            </a:extLst>
          </p:cNvPr>
          <p:cNvPicPr>
            <a:picLocks noGrp="1" noChangeAspect="1"/>
          </p:cNvPicPr>
          <p:nvPr>
            <p:ph idx="1"/>
          </p:nvPr>
        </p:nvPicPr>
        <p:blipFill>
          <a:blip r:embed="rId3"/>
          <a:stretch>
            <a:fillRect/>
          </a:stretch>
        </p:blipFill>
        <p:spPr>
          <a:xfrm>
            <a:off x="0" y="298580"/>
            <a:ext cx="5044440" cy="3435220"/>
          </a:xfrm>
          <a:prstGeom prst="rect">
            <a:avLst/>
          </a:prstGeom>
          <a:noFill/>
          <a:ln>
            <a:noFill/>
          </a:ln>
        </p:spPr>
      </p:pic>
      <p:pic>
        <p:nvPicPr>
          <p:cNvPr id="8" name="Picture 7">
            <a:extLst>
              <a:ext uri="{FF2B5EF4-FFF2-40B4-BE49-F238E27FC236}">
                <a16:creationId xmlns:a16="http://schemas.microsoft.com/office/drawing/2014/main" id="{3CCF62FA-F383-4D34-B96A-66E8AB6CE06B}"/>
              </a:ext>
            </a:extLst>
          </p:cNvPr>
          <p:cNvPicPr>
            <a:picLocks noChangeAspect="1"/>
          </p:cNvPicPr>
          <p:nvPr/>
        </p:nvPicPr>
        <p:blipFill>
          <a:blip r:embed="rId4"/>
          <a:stretch>
            <a:fillRect/>
          </a:stretch>
        </p:blipFill>
        <p:spPr>
          <a:xfrm>
            <a:off x="4892040" y="178844"/>
            <a:ext cx="4221480" cy="3554956"/>
          </a:xfrm>
          <a:prstGeom prst="rect">
            <a:avLst/>
          </a:prstGeom>
        </p:spPr>
      </p:pic>
      <p:pic>
        <p:nvPicPr>
          <p:cNvPr id="10" name="Picture 9">
            <a:extLst>
              <a:ext uri="{FF2B5EF4-FFF2-40B4-BE49-F238E27FC236}">
                <a16:creationId xmlns:a16="http://schemas.microsoft.com/office/drawing/2014/main" id="{A8AC80A5-69F3-46A7-AC6C-E490EBB21E62}"/>
              </a:ext>
            </a:extLst>
          </p:cNvPr>
          <p:cNvPicPr>
            <a:picLocks noChangeAspect="1"/>
          </p:cNvPicPr>
          <p:nvPr/>
        </p:nvPicPr>
        <p:blipFill>
          <a:blip r:embed="rId5"/>
          <a:stretch>
            <a:fillRect/>
          </a:stretch>
        </p:blipFill>
        <p:spPr>
          <a:xfrm>
            <a:off x="8810149" y="38197"/>
            <a:ext cx="3982402" cy="3955985"/>
          </a:xfrm>
          <a:prstGeom prst="rect">
            <a:avLst/>
          </a:prstGeom>
        </p:spPr>
      </p:pic>
      <p:pic>
        <p:nvPicPr>
          <p:cNvPr id="12" name="Picture 11">
            <a:extLst>
              <a:ext uri="{FF2B5EF4-FFF2-40B4-BE49-F238E27FC236}">
                <a16:creationId xmlns:a16="http://schemas.microsoft.com/office/drawing/2014/main" id="{0B5082CA-267A-43C7-9B50-0F2BD574F2CD}"/>
              </a:ext>
            </a:extLst>
          </p:cNvPr>
          <p:cNvPicPr>
            <a:picLocks noChangeAspect="1"/>
          </p:cNvPicPr>
          <p:nvPr/>
        </p:nvPicPr>
        <p:blipFill>
          <a:blip r:embed="rId6"/>
          <a:stretch>
            <a:fillRect/>
          </a:stretch>
        </p:blipFill>
        <p:spPr>
          <a:xfrm>
            <a:off x="0" y="3733800"/>
            <a:ext cx="5131118" cy="3735232"/>
          </a:xfrm>
          <a:prstGeom prst="rect">
            <a:avLst/>
          </a:prstGeom>
        </p:spPr>
      </p:pic>
      <p:pic>
        <p:nvPicPr>
          <p:cNvPr id="14" name="Picture 13">
            <a:extLst>
              <a:ext uri="{FF2B5EF4-FFF2-40B4-BE49-F238E27FC236}">
                <a16:creationId xmlns:a16="http://schemas.microsoft.com/office/drawing/2014/main" id="{1A1ABD3F-C337-4D12-9F20-48AF36C76DFE}"/>
              </a:ext>
            </a:extLst>
          </p:cNvPr>
          <p:cNvPicPr>
            <a:picLocks noChangeAspect="1"/>
          </p:cNvPicPr>
          <p:nvPr/>
        </p:nvPicPr>
        <p:blipFill>
          <a:blip r:embed="rId7"/>
          <a:stretch>
            <a:fillRect/>
          </a:stretch>
        </p:blipFill>
        <p:spPr>
          <a:xfrm>
            <a:off x="5131118" y="3629024"/>
            <a:ext cx="4307204" cy="3840007"/>
          </a:xfrm>
          <a:prstGeom prst="rect">
            <a:avLst/>
          </a:prstGeom>
        </p:spPr>
      </p:pic>
      <p:pic>
        <p:nvPicPr>
          <p:cNvPr id="16" name="Picture 15">
            <a:extLst>
              <a:ext uri="{FF2B5EF4-FFF2-40B4-BE49-F238E27FC236}">
                <a16:creationId xmlns:a16="http://schemas.microsoft.com/office/drawing/2014/main" id="{04AF32E8-76E7-411D-B208-F4D7EFB4B19E}"/>
              </a:ext>
            </a:extLst>
          </p:cNvPr>
          <p:cNvPicPr>
            <a:picLocks noChangeAspect="1"/>
          </p:cNvPicPr>
          <p:nvPr/>
        </p:nvPicPr>
        <p:blipFill>
          <a:blip r:embed="rId8"/>
          <a:stretch>
            <a:fillRect/>
          </a:stretch>
        </p:blipFill>
        <p:spPr>
          <a:xfrm>
            <a:off x="9438321" y="3874446"/>
            <a:ext cx="3354229" cy="3594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89001DDB-79FD-4CF3-7A15-5A3E01B6D0D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A04FFE7-0E6A-4DE6-AF1F-1EA88710E53B}"/>
              </a:ext>
            </a:extLst>
          </p:cNvPr>
          <p:cNvSpPr>
            <a:spLocks noGrp="1"/>
          </p:cNvSpPr>
          <p:nvPr>
            <p:ph type="title"/>
          </p:nvPr>
        </p:nvSpPr>
        <p:spPr>
          <a:xfrm>
            <a:off x="1024128" y="585215"/>
            <a:ext cx="9720072" cy="1022868"/>
          </a:xfrm>
        </p:spPr>
        <p:txBody>
          <a:bodyPr>
            <a:normAutofit fontScale="90000"/>
          </a:bodyPr>
          <a:lstStyle/>
          <a:p>
            <a:r>
              <a:rPr lang="en-US" dirty="0"/>
              <a:t>A BAR GRAPH SHOWING INTERNET ACCESS BY LITERACY STATUS AND BOX PLOT SHOWING EDUCATION LEVEL INLINE WITH INTERNET ACCESS</a:t>
            </a:r>
          </a:p>
        </p:txBody>
      </p:sp>
      <p:pic>
        <p:nvPicPr>
          <p:cNvPr id="4" name="Content Placeholder 3">
            <a:extLst>
              <a:ext uri="{FF2B5EF4-FFF2-40B4-BE49-F238E27FC236}">
                <a16:creationId xmlns:a16="http://schemas.microsoft.com/office/drawing/2014/main" id="{E03A18BB-508D-4CE3-902E-0C878982A5FB}"/>
              </a:ext>
            </a:extLst>
          </p:cNvPr>
          <p:cNvPicPr>
            <a:picLocks noGrp="1" noChangeAspect="1"/>
          </p:cNvPicPr>
          <p:nvPr>
            <p:ph idx="1"/>
          </p:nvPr>
        </p:nvPicPr>
        <p:blipFill>
          <a:blip r:embed="rId3"/>
          <a:stretch>
            <a:fillRect/>
          </a:stretch>
        </p:blipFill>
        <p:spPr>
          <a:xfrm>
            <a:off x="0" y="2207171"/>
            <a:ext cx="6621517" cy="4192971"/>
          </a:xfrm>
          <a:prstGeom prst="rect">
            <a:avLst/>
          </a:prstGeom>
          <a:noFill/>
          <a:ln>
            <a:noFill/>
          </a:ln>
        </p:spPr>
      </p:pic>
      <p:pic>
        <p:nvPicPr>
          <p:cNvPr id="6" name="Picture 5">
            <a:extLst>
              <a:ext uri="{FF2B5EF4-FFF2-40B4-BE49-F238E27FC236}">
                <a16:creationId xmlns:a16="http://schemas.microsoft.com/office/drawing/2014/main" id="{9B962963-88F7-4821-B990-77986ECCCEA0}"/>
              </a:ext>
            </a:extLst>
          </p:cNvPr>
          <p:cNvPicPr>
            <a:picLocks noChangeAspect="1"/>
          </p:cNvPicPr>
          <p:nvPr/>
        </p:nvPicPr>
        <p:blipFill>
          <a:blip r:embed="rId4"/>
          <a:stretch>
            <a:fillRect/>
          </a:stretch>
        </p:blipFill>
        <p:spPr>
          <a:xfrm>
            <a:off x="6489152" y="2207171"/>
            <a:ext cx="5172076" cy="4192971"/>
          </a:xfrm>
          <a:prstGeom prst="rect">
            <a:avLst/>
          </a:prstGeom>
        </p:spPr>
      </p:pic>
    </p:spTree>
    <p:extLst>
      <p:ext uri="{BB962C8B-B14F-4D97-AF65-F5344CB8AC3E}">
        <p14:creationId xmlns:p14="http://schemas.microsoft.com/office/powerpoint/2010/main" val="269049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EA8662B6-6FD2-82AD-6278-7FC36B42ADD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CBA8C844-DA54-4324-862B-F909CB3E3D67}"/>
              </a:ext>
            </a:extLst>
          </p:cNvPr>
          <p:cNvSpPr>
            <a:spLocks noGrp="1"/>
          </p:cNvSpPr>
          <p:nvPr>
            <p:ph type="title"/>
          </p:nvPr>
        </p:nvSpPr>
        <p:spPr>
          <a:xfrm>
            <a:off x="1402500" y="520263"/>
            <a:ext cx="9720072" cy="835572"/>
          </a:xfrm>
        </p:spPr>
        <p:txBody>
          <a:bodyPr>
            <a:normAutofit fontScale="90000"/>
          </a:bodyPr>
          <a:lstStyle/>
          <a:p>
            <a:r>
              <a:rPr lang="en-US" dirty="0"/>
              <a:t>A BAR GRAPH SHOWING INTERNET ACCESS BY SEX</a:t>
            </a:r>
          </a:p>
        </p:txBody>
      </p:sp>
      <p:pic>
        <p:nvPicPr>
          <p:cNvPr id="6" name="Content Placeholder 5">
            <a:extLst>
              <a:ext uri="{FF2B5EF4-FFF2-40B4-BE49-F238E27FC236}">
                <a16:creationId xmlns:a16="http://schemas.microsoft.com/office/drawing/2014/main" id="{AC2A58E6-8F0A-4E29-A745-8A4610EA8B27}"/>
              </a:ext>
            </a:extLst>
          </p:cNvPr>
          <p:cNvPicPr>
            <a:picLocks noGrp="1" noChangeAspect="1"/>
          </p:cNvPicPr>
          <p:nvPr>
            <p:ph idx="1"/>
          </p:nvPr>
        </p:nvPicPr>
        <p:blipFill>
          <a:blip r:embed="rId3"/>
          <a:stretch>
            <a:fillRect/>
          </a:stretch>
        </p:blipFill>
        <p:spPr>
          <a:xfrm>
            <a:off x="1923393" y="1592317"/>
            <a:ext cx="9333186" cy="4745420"/>
          </a:xfrm>
          <a:prstGeom prst="rect">
            <a:avLst/>
          </a:prstGeom>
          <a:noFill/>
          <a:ln>
            <a:noFill/>
          </a:ln>
        </p:spPr>
      </p:pic>
    </p:spTree>
    <p:extLst>
      <p:ext uri="{BB962C8B-B14F-4D97-AF65-F5344CB8AC3E}">
        <p14:creationId xmlns:p14="http://schemas.microsoft.com/office/powerpoint/2010/main" val="1450983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004FE-95C8-4E18-8ABE-55C63DC65328}"/>
              </a:ext>
            </a:extLst>
          </p:cNvPr>
          <p:cNvSpPr>
            <a:spLocks noGrp="1"/>
          </p:cNvSpPr>
          <p:nvPr>
            <p:ph type="title"/>
          </p:nvPr>
        </p:nvSpPr>
        <p:spPr>
          <a:xfrm>
            <a:off x="1024128" y="585216"/>
            <a:ext cx="9720072" cy="408012"/>
          </a:xfrm>
        </p:spPr>
        <p:txBody>
          <a:bodyPr>
            <a:normAutofit fontScale="90000"/>
          </a:bodyPr>
          <a:lstStyle/>
          <a:p>
            <a:r>
              <a:rPr lang="en-US" dirty="0"/>
              <a:t>A BAR GRAPH SHOWING INTERNET ACCESS BY REGION</a:t>
            </a:r>
          </a:p>
        </p:txBody>
      </p:sp>
      <p:pic>
        <p:nvPicPr>
          <p:cNvPr id="6" name="Content Placeholder 5">
            <a:extLst>
              <a:ext uri="{FF2B5EF4-FFF2-40B4-BE49-F238E27FC236}">
                <a16:creationId xmlns:a16="http://schemas.microsoft.com/office/drawing/2014/main" id="{7425B9F6-3AA0-4D69-B4FA-1AEE2C23ED4F}"/>
              </a:ext>
            </a:extLst>
          </p:cNvPr>
          <p:cNvPicPr>
            <a:picLocks noGrp="1" noChangeAspect="1"/>
          </p:cNvPicPr>
          <p:nvPr>
            <p:ph idx="1"/>
          </p:nvPr>
        </p:nvPicPr>
        <p:blipFill>
          <a:blip r:embed="rId2"/>
          <a:stretch>
            <a:fillRect/>
          </a:stretch>
        </p:blipFill>
        <p:spPr>
          <a:xfrm>
            <a:off x="381001" y="1213945"/>
            <a:ext cx="10954406" cy="5288290"/>
          </a:xfrm>
        </p:spPr>
      </p:pic>
      <p:sp>
        <p:nvSpPr>
          <p:cNvPr id="4" name="Slide Number Placeholder 3">
            <a:extLst>
              <a:ext uri="{FF2B5EF4-FFF2-40B4-BE49-F238E27FC236}">
                <a16:creationId xmlns:a16="http://schemas.microsoft.com/office/drawing/2014/main" id="{91E0FB9A-BA13-4455-ABE7-D9A04230CD8F}"/>
              </a:ext>
            </a:extLst>
          </p:cNvPr>
          <p:cNvSpPr>
            <a:spLocks noGrp="1"/>
          </p:cNvSpPr>
          <p:nvPr>
            <p:ph type="sldNum" sz="quarter" idx="12"/>
          </p:nvPr>
        </p:nvSpPr>
        <p:spPr/>
        <p:txBody>
          <a:bodyPr>
            <a:normAutofit/>
          </a:bodyPr>
          <a:lstStyle/>
          <a:p>
            <a:fld id="{0428C338-E682-4B46-9632-D57B5813D090}" type="slidenum">
              <a:rPr lang="en-US" smtClean="0"/>
              <a:t>16</a:t>
            </a:fld>
            <a:endParaRPr lang="en-US"/>
          </a:p>
        </p:txBody>
      </p:sp>
    </p:spTree>
    <p:extLst>
      <p:ext uri="{BB962C8B-B14F-4D97-AF65-F5344CB8AC3E}">
        <p14:creationId xmlns:p14="http://schemas.microsoft.com/office/powerpoint/2010/main" val="3832557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227AC859-0CDF-F22C-4456-659C3DD6E7C0}"/>
            </a:ext>
          </a:extLst>
        </p:cNvPr>
        <p:cNvGrpSpPr/>
        <p:nvPr/>
      </p:nvGrpSpPr>
      <p:grpSpPr>
        <a:xfrm>
          <a:off x="0" y="0"/>
          <a:ext cx="0" cy="0"/>
          <a:chOff x="0" y="0"/>
          <a:chExt cx="0" cy="0"/>
        </a:xfrm>
      </p:grpSpPr>
      <p:sp>
        <p:nvSpPr>
          <p:cNvPr id="146" name="Google Shape;146;p9">
            <a:extLst>
              <a:ext uri="{FF2B5EF4-FFF2-40B4-BE49-F238E27FC236}">
                <a16:creationId xmlns:a16="http://schemas.microsoft.com/office/drawing/2014/main" id="{F3F0C688-7C64-B7EC-A826-0B2AEAAD9C7E}"/>
              </a:ext>
            </a:extLst>
          </p:cNvPr>
          <p:cNvSpPr txBox="1">
            <a:spLocks noGrp="1"/>
          </p:cNvSpPr>
          <p:nvPr>
            <p:ph type="title"/>
          </p:nvPr>
        </p:nvSpPr>
        <p:spPr>
          <a:xfrm>
            <a:off x="1979646" y="252407"/>
            <a:ext cx="8077200" cy="282885"/>
          </a:xfrm>
          <a:prstGeom prst="rect">
            <a:avLst/>
          </a:prstGeom>
          <a:noFill/>
          <a:ln>
            <a:noFill/>
          </a:ln>
        </p:spPr>
        <p:txBody>
          <a:bodyPr spcFirstLastPara="1" wrap="square" lIns="91425" tIns="45700" rIns="91425" bIns="45700" anchor="ctr" anchorCtr="0">
            <a:noAutofit/>
          </a:bodyPr>
          <a:lstStyle/>
          <a:p>
            <a:pPr>
              <a:buSzPts val="2800"/>
            </a:pPr>
            <a:r>
              <a:rPr lang="en-US" sz="2800" dirty="0"/>
              <a:t>A HEATMAP SHOWING CORRELATION OF ALL FEATURES </a:t>
            </a:r>
            <a:endParaRPr lang="en-US" dirty="0"/>
          </a:p>
        </p:txBody>
      </p:sp>
      <p:pic>
        <p:nvPicPr>
          <p:cNvPr id="6" name="Content Placeholder 5">
            <a:extLst>
              <a:ext uri="{FF2B5EF4-FFF2-40B4-BE49-F238E27FC236}">
                <a16:creationId xmlns:a16="http://schemas.microsoft.com/office/drawing/2014/main" id="{A96F613A-0047-4B69-88F0-AC503F739472}"/>
              </a:ext>
            </a:extLst>
          </p:cNvPr>
          <p:cNvPicPr>
            <a:picLocks noGrp="1" noChangeAspect="1"/>
          </p:cNvPicPr>
          <p:nvPr>
            <p:ph idx="1"/>
          </p:nvPr>
        </p:nvPicPr>
        <p:blipFill>
          <a:blip r:embed="rId3"/>
          <a:stretch>
            <a:fillRect/>
          </a:stretch>
        </p:blipFill>
        <p:spPr>
          <a:xfrm>
            <a:off x="614855" y="835572"/>
            <a:ext cx="11035862" cy="5844628"/>
          </a:xfrm>
          <a:prstGeom prst="rect">
            <a:avLst/>
          </a:prstGeom>
          <a:noFill/>
          <a:ln>
            <a:noFill/>
          </a:ln>
        </p:spPr>
      </p:pic>
    </p:spTree>
    <p:extLst>
      <p:ext uri="{BB962C8B-B14F-4D97-AF65-F5344CB8AC3E}">
        <p14:creationId xmlns:p14="http://schemas.microsoft.com/office/powerpoint/2010/main" val="158992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0440883D-5EDE-B6FD-1364-CFE9F66122CF}"/>
            </a:ext>
          </a:extLst>
        </p:cNvPr>
        <p:cNvGrpSpPr/>
        <p:nvPr/>
      </p:nvGrpSpPr>
      <p:grpSpPr>
        <a:xfrm>
          <a:off x="0" y="0"/>
          <a:ext cx="0" cy="0"/>
          <a:chOff x="0" y="0"/>
          <a:chExt cx="0" cy="0"/>
        </a:xfrm>
      </p:grpSpPr>
      <p:sp>
        <p:nvSpPr>
          <p:cNvPr id="146" name="Google Shape;146;p9">
            <a:extLst>
              <a:ext uri="{FF2B5EF4-FFF2-40B4-BE49-F238E27FC236}">
                <a16:creationId xmlns:a16="http://schemas.microsoft.com/office/drawing/2014/main" id="{4E6088CF-1CA5-5385-E155-8A08CD1ABF26}"/>
              </a:ext>
            </a:extLst>
          </p:cNvPr>
          <p:cNvSpPr txBox="1">
            <a:spLocks noGrp="1"/>
          </p:cNvSpPr>
          <p:nvPr>
            <p:ph type="title"/>
          </p:nvPr>
        </p:nvSpPr>
        <p:spPr>
          <a:xfrm>
            <a:off x="1979646" y="252407"/>
            <a:ext cx="8077200" cy="1182255"/>
          </a:xfrm>
          <a:prstGeom prst="rect">
            <a:avLst/>
          </a:prstGeom>
          <a:noFill/>
          <a:ln>
            <a:noFill/>
          </a:ln>
        </p:spPr>
        <p:txBody>
          <a:bodyPr spcFirstLastPara="1" wrap="square" lIns="91425" tIns="45700" rIns="91425" bIns="45700" anchor="ctr" anchorCtr="0">
            <a:noAutofit/>
          </a:bodyPr>
          <a:lstStyle/>
          <a:p>
            <a:pPr>
              <a:buSzPts val="2800"/>
            </a:pPr>
            <a:r>
              <a:rPr lang="en-US" dirty="0"/>
              <a:t>A BAR GRAPH SHOWING FEATURE CORRELATION WITH INTERNET ACCESS</a:t>
            </a:r>
          </a:p>
        </p:txBody>
      </p:sp>
      <p:pic>
        <p:nvPicPr>
          <p:cNvPr id="6" name="Content Placeholder 5">
            <a:extLst>
              <a:ext uri="{FF2B5EF4-FFF2-40B4-BE49-F238E27FC236}">
                <a16:creationId xmlns:a16="http://schemas.microsoft.com/office/drawing/2014/main" id="{0A50AB92-52ED-42FA-B1B9-328BC6ECB6C6}"/>
              </a:ext>
            </a:extLst>
          </p:cNvPr>
          <p:cNvPicPr>
            <a:picLocks noGrp="1" noChangeAspect="1"/>
          </p:cNvPicPr>
          <p:nvPr>
            <p:ph idx="1"/>
          </p:nvPr>
        </p:nvPicPr>
        <p:blipFill>
          <a:blip r:embed="rId3"/>
          <a:stretch>
            <a:fillRect/>
          </a:stretch>
        </p:blipFill>
        <p:spPr>
          <a:xfrm>
            <a:off x="1749971" y="1608084"/>
            <a:ext cx="9585435" cy="4761186"/>
          </a:xfrm>
          <a:prstGeom prst="rect">
            <a:avLst/>
          </a:prstGeom>
          <a:noFill/>
          <a:ln>
            <a:noFill/>
          </a:ln>
        </p:spPr>
      </p:pic>
    </p:spTree>
    <p:extLst>
      <p:ext uri="{BB962C8B-B14F-4D97-AF65-F5344CB8AC3E}">
        <p14:creationId xmlns:p14="http://schemas.microsoft.com/office/powerpoint/2010/main" val="2816616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508E7-3B71-4278-B822-0CE20CA527D2}"/>
              </a:ext>
            </a:extLst>
          </p:cNvPr>
          <p:cNvSpPr>
            <a:spLocks noGrp="1"/>
          </p:cNvSpPr>
          <p:nvPr>
            <p:ph type="title"/>
          </p:nvPr>
        </p:nvSpPr>
        <p:spPr>
          <a:xfrm>
            <a:off x="1024128" y="141890"/>
            <a:ext cx="9720072" cy="1008993"/>
          </a:xfrm>
        </p:spPr>
        <p:txBody>
          <a:bodyPr>
            <a:normAutofit fontScale="90000"/>
          </a:bodyPr>
          <a:lstStyle/>
          <a:p>
            <a:r>
              <a:rPr lang="en-US" dirty="0"/>
              <a:t>A BAR GRAPH SHOWING INTERNET ACCESS BY TECHNOLOGY </a:t>
            </a:r>
          </a:p>
        </p:txBody>
      </p:sp>
      <p:pic>
        <p:nvPicPr>
          <p:cNvPr id="6" name="Content Placeholder 5">
            <a:extLst>
              <a:ext uri="{FF2B5EF4-FFF2-40B4-BE49-F238E27FC236}">
                <a16:creationId xmlns:a16="http://schemas.microsoft.com/office/drawing/2014/main" id="{4352278C-23EC-4183-B1F4-1BF3B712299F}"/>
              </a:ext>
            </a:extLst>
          </p:cNvPr>
          <p:cNvPicPr>
            <a:picLocks noGrp="1" noChangeAspect="1"/>
          </p:cNvPicPr>
          <p:nvPr>
            <p:ph idx="1"/>
          </p:nvPr>
        </p:nvPicPr>
        <p:blipFill>
          <a:blip r:embed="rId2"/>
          <a:stretch>
            <a:fillRect/>
          </a:stretch>
        </p:blipFill>
        <p:spPr>
          <a:xfrm>
            <a:off x="756745" y="1150883"/>
            <a:ext cx="10405241" cy="5319821"/>
          </a:xfrm>
        </p:spPr>
      </p:pic>
      <p:sp>
        <p:nvSpPr>
          <p:cNvPr id="4" name="Slide Number Placeholder 3">
            <a:extLst>
              <a:ext uri="{FF2B5EF4-FFF2-40B4-BE49-F238E27FC236}">
                <a16:creationId xmlns:a16="http://schemas.microsoft.com/office/drawing/2014/main" id="{76593925-D029-4DAA-8037-A88C16586501}"/>
              </a:ext>
            </a:extLst>
          </p:cNvPr>
          <p:cNvSpPr>
            <a:spLocks noGrp="1"/>
          </p:cNvSpPr>
          <p:nvPr>
            <p:ph type="sldNum" sz="quarter" idx="12"/>
          </p:nvPr>
        </p:nvSpPr>
        <p:spPr/>
        <p:txBody>
          <a:bodyPr>
            <a:normAutofit/>
          </a:bodyPr>
          <a:lstStyle/>
          <a:p>
            <a:fld id="{0428C338-E682-4B46-9632-D57B5813D090}" type="slidenum">
              <a:rPr lang="en-US" smtClean="0"/>
              <a:t>19</a:t>
            </a:fld>
            <a:endParaRPr lang="en-US"/>
          </a:p>
        </p:txBody>
      </p:sp>
    </p:spTree>
    <p:extLst>
      <p:ext uri="{BB962C8B-B14F-4D97-AF65-F5344CB8AC3E}">
        <p14:creationId xmlns:p14="http://schemas.microsoft.com/office/powerpoint/2010/main" val="1984614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2357ED-56AA-460F-9AE6-EBF4F817D848}"/>
              </a:ext>
            </a:extLst>
          </p:cNvPr>
          <p:cNvSpPr>
            <a:spLocks noGrp="1"/>
          </p:cNvSpPr>
          <p:nvPr>
            <p:ph type="sldNum" sz="quarter" idx="12"/>
          </p:nvPr>
        </p:nvSpPr>
        <p:spPr/>
        <p:txBody>
          <a:bodyPr>
            <a:normAutofit/>
          </a:bodyPr>
          <a:lstStyle/>
          <a:p>
            <a:fld id="{00000000-1234-1234-1234-123412341234}" type="slidenum">
              <a:rPr lang="en-US" smtClean="0"/>
              <a:pPr/>
              <a:t>20</a:t>
            </a:fld>
            <a:endParaRPr lang="en-US"/>
          </a:p>
        </p:txBody>
      </p:sp>
      <p:pic>
        <p:nvPicPr>
          <p:cNvPr id="4" name="Picture 3">
            <a:extLst>
              <a:ext uri="{FF2B5EF4-FFF2-40B4-BE49-F238E27FC236}">
                <a16:creationId xmlns:a16="http://schemas.microsoft.com/office/drawing/2014/main" id="{B618EF9A-9E75-487A-9E10-CCDE25534765}"/>
              </a:ext>
            </a:extLst>
          </p:cNvPr>
          <p:cNvPicPr>
            <a:picLocks noChangeAspect="1"/>
          </p:cNvPicPr>
          <p:nvPr/>
        </p:nvPicPr>
        <p:blipFill>
          <a:blip r:embed="rId2"/>
          <a:stretch>
            <a:fillRect/>
          </a:stretch>
        </p:blipFill>
        <p:spPr>
          <a:xfrm>
            <a:off x="433387" y="619125"/>
            <a:ext cx="4658875" cy="3416847"/>
          </a:xfrm>
          <a:prstGeom prst="rect">
            <a:avLst/>
          </a:prstGeom>
        </p:spPr>
      </p:pic>
      <p:pic>
        <p:nvPicPr>
          <p:cNvPr id="6" name="Picture 5">
            <a:extLst>
              <a:ext uri="{FF2B5EF4-FFF2-40B4-BE49-F238E27FC236}">
                <a16:creationId xmlns:a16="http://schemas.microsoft.com/office/drawing/2014/main" id="{3CA088E3-6830-4F26-B4E6-44BF8E8C202A}"/>
              </a:ext>
            </a:extLst>
          </p:cNvPr>
          <p:cNvPicPr>
            <a:picLocks noChangeAspect="1"/>
          </p:cNvPicPr>
          <p:nvPr/>
        </p:nvPicPr>
        <p:blipFill>
          <a:blip r:embed="rId3"/>
          <a:stretch>
            <a:fillRect/>
          </a:stretch>
        </p:blipFill>
        <p:spPr>
          <a:xfrm>
            <a:off x="0" y="3886523"/>
            <a:ext cx="12192000" cy="2623595"/>
          </a:xfrm>
          <a:prstGeom prst="rect">
            <a:avLst/>
          </a:prstGeom>
        </p:spPr>
      </p:pic>
    </p:spTree>
    <p:extLst>
      <p:ext uri="{BB962C8B-B14F-4D97-AF65-F5344CB8AC3E}">
        <p14:creationId xmlns:p14="http://schemas.microsoft.com/office/powerpoint/2010/main" val="2602800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29E3CC-D9DF-4424-8164-134155E01A0E}"/>
              </a:ext>
            </a:extLst>
          </p:cNvPr>
          <p:cNvSpPr>
            <a:spLocks noGrp="1"/>
          </p:cNvSpPr>
          <p:nvPr>
            <p:ph type="sldNum" sz="quarter" idx="12"/>
          </p:nvPr>
        </p:nvSpPr>
        <p:spPr/>
        <p:txBody>
          <a:bodyPr>
            <a:normAutofit/>
          </a:bodyPr>
          <a:lstStyle/>
          <a:p>
            <a:fld id="{00000000-1234-1234-1234-123412341234}" type="slidenum">
              <a:rPr lang="en-US" smtClean="0"/>
              <a:pPr/>
              <a:t>21</a:t>
            </a:fld>
            <a:endParaRPr lang="en-US"/>
          </a:p>
        </p:txBody>
      </p:sp>
      <p:pic>
        <p:nvPicPr>
          <p:cNvPr id="4" name="Picture 3">
            <a:extLst>
              <a:ext uri="{FF2B5EF4-FFF2-40B4-BE49-F238E27FC236}">
                <a16:creationId xmlns:a16="http://schemas.microsoft.com/office/drawing/2014/main" id="{8A50902B-FBC4-43E7-9065-8D7607D5E567}"/>
              </a:ext>
            </a:extLst>
          </p:cNvPr>
          <p:cNvPicPr>
            <a:picLocks noChangeAspect="1"/>
          </p:cNvPicPr>
          <p:nvPr/>
        </p:nvPicPr>
        <p:blipFill>
          <a:blip r:embed="rId2"/>
          <a:stretch>
            <a:fillRect/>
          </a:stretch>
        </p:blipFill>
        <p:spPr>
          <a:xfrm>
            <a:off x="0" y="272281"/>
            <a:ext cx="12192000" cy="6313437"/>
          </a:xfrm>
          <a:prstGeom prst="rect">
            <a:avLst/>
          </a:prstGeom>
        </p:spPr>
      </p:pic>
    </p:spTree>
    <p:extLst>
      <p:ext uri="{BB962C8B-B14F-4D97-AF65-F5344CB8AC3E}">
        <p14:creationId xmlns:p14="http://schemas.microsoft.com/office/powerpoint/2010/main" val="497810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1661BF-2F8B-422B-AC20-96519A064478}"/>
              </a:ext>
            </a:extLst>
          </p:cNvPr>
          <p:cNvSpPr>
            <a:spLocks noGrp="1"/>
          </p:cNvSpPr>
          <p:nvPr>
            <p:ph type="sldNum" sz="quarter" idx="12"/>
          </p:nvPr>
        </p:nvSpPr>
        <p:spPr/>
        <p:txBody>
          <a:bodyPr>
            <a:normAutofit/>
          </a:bodyPr>
          <a:lstStyle/>
          <a:p>
            <a:fld id="{00000000-1234-1234-1234-123412341234}" type="slidenum">
              <a:rPr lang="en-US" smtClean="0"/>
              <a:pPr/>
              <a:t>22</a:t>
            </a:fld>
            <a:endParaRPr lang="en-US"/>
          </a:p>
        </p:txBody>
      </p:sp>
      <p:pic>
        <p:nvPicPr>
          <p:cNvPr id="4" name="Picture 3">
            <a:extLst>
              <a:ext uri="{FF2B5EF4-FFF2-40B4-BE49-F238E27FC236}">
                <a16:creationId xmlns:a16="http://schemas.microsoft.com/office/drawing/2014/main" id="{90880FD0-936B-44F5-AAF2-A23E343BE8DB}"/>
              </a:ext>
            </a:extLst>
          </p:cNvPr>
          <p:cNvPicPr>
            <a:picLocks noChangeAspect="1"/>
          </p:cNvPicPr>
          <p:nvPr/>
        </p:nvPicPr>
        <p:blipFill>
          <a:blip r:embed="rId2"/>
          <a:stretch>
            <a:fillRect/>
          </a:stretch>
        </p:blipFill>
        <p:spPr>
          <a:xfrm>
            <a:off x="1385887" y="619125"/>
            <a:ext cx="9420225" cy="5619750"/>
          </a:xfrm>
          <a:prstGeom prst="rect">
            <a:avLst/>
          </a:prstGeom>
        </p:spPr>
      </p:pic>
    </p:spTree>
    <p:extLst>
      <p:ext uri="{BB962C8B-B14F-4D97-AF65-F5344CB8AC3E}">
        <p14:creationId xmlns:p14="http://schemas.microsoft.com/office/powerpoint/2010/main" val="1592095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976621-E543-4C17-9846-836BAED82163}"/>
              </a:ext>
            </a:extLst>
          </p:cNvPr>
          <p:cNvSpPr>
            <a:spLocks noGrp="1"/>
          </p:cNvSpPr>
          <p:nvPr>
            <p:ph type="sldNum" sz="quarter" idx="12"/>
          </p:nvPr>
        </p:nvSpPr>
        <p:spPr/>
        <p:txBody>
          <a:bodyPr>
            <a:normAutofit/>
          </a:bodyPr>
          <a:lstStyle/>
          <a:p>
            <a:fld id="{00000000-1234-1234-1234-123412341234}" type="slidenum">
              <a:rPr lang="en-US" smtClean="0"/>
              <a:pPr/>
              <a:t>23</a:t>
            </a:fld>
            <a:endParaRPr lang="en-US"/>
          </a:p>
        </p:txBody>
      </p:sp>
      <p:pic>
        <p:nvPicPr>
          <p:cNvPr id="4" name="Picture 3">
            <a:extLst>
              <a:ext uri="{FF2B5EF4-FFF2-40B4-BE49-F238E27FC236}">
                <a16:creationId xmlns:a16="http://schemas.microsoft.com/office/drawing/2014/main" id="{0189825C-3D5E-4888-BD6B-54E6B09C8425}"/>
              </a:ext>
            </a:extLst>
          </p:cNvPr>
          <p:cNvPicPr>
            <a:picLocks noChangeAspect="1"/>
          </p:cNvPicPr>
          <p:nvPr/>
        </p:nvPicPr>
        <p:blipFill>
          <a:blip r:embed="rId2"/>
          <a:stretch>
            <a:fillRect/>
          </a:stretch>
        </p:blipFill>
        <p:spPr>
          <a:xfrm>
            <a:off x="0" y="1278503"/>
            <a:ext cx="12192000" cy="4300994"/>
          </a:xfrm>
          <a:prstGeom prst="rect">
            <a:avLst/>
          </a:prstGeom>
        </p:spPr>
      </p:pic>
    </p:spTree>
    <p:extLst>
      <p:ext uri="{BB962C8B-B14F-4D97-AF65-F5344CB8AC3E}">
        <p14:creationId xmlns:p14="http://schemas.microsoft.com/office/powerpoint/2010/main" val="2276578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15C10-99C8-4E50-AB4C-130AB77F3439}"/>
              </a:ext>
            </a:extLst>
          </p:cNvPr>
          <p:cNvSpPr>
            <a:spLocks noGrp="1"/>
          </p:cNvSpPr>
          <p:nvPr>
            <p:ph type="sldNum" sz="quarter" idx="12"/>
          </p:nvPr>
        </p:nvSpPr>
        <p:spPr/>
        <p:txBody>
          <a:bodyPr>
            <a:normAutofit/>
          </a:bodyPr>
          <a:lstStyle/>
          <a:p>
            <a:fld id="{00000000-1234-1234-1234-123412341234}" type="slidenum">
              <a:rPr lang="en-US" smtClean="0"/>
              <a:pPr/>
              <a:t>24</a:t>
            </a:fld>
            <a:endParaRPr lang="en-US"/>
          </a:p>
        </p:txBody>
      </p:sp>
      <p:pic>
        <p:nvPicPr>
          <p:cNvPr id="4" name="Picture 3">
            <a:extLst>
              <a:ext uri="{FF2B5EF4-FFF2-40B4-BE49-F238E27FC236}">
                <a16:creationId xmlns:a16="http://schemas.microsoft.com/office/drawing/2014/main" id="{6B5B7AB4-0D43-45D6-8C82-3B69E12AF337}"/>
              </a:ext>
            </a:extLst>
          </p:cNvPr>
          <p:cNvPicPr>
            <a:picLocks noChangeAspect="1"/>
          </p:cNvPicPr>
          <p:nvPr/>
        </p:nvPicPr>
        <p:blipFill>
          <a:blip r:embed="rId2"/>
          <a:stretch>
            <a:fillRect/>
          </a:stretch>
        </p:blipFill>
        <p:spPr>
          <a:xfrm>
            <a:off x="1285009" y="0"/>
            <a:ext cx="9621982" cy="6858000"/>
          </a:xfrm>
          <a:prstGeom prst="rect">
            <a:avLst/>
          </a:prstGeom>
        </p:spPr>
      </p:pic>
    </p:spTree>
    <p:extLst>
      <p:ext uri="{BB962C8B-B14F-4D97-AF65-F5344CB8AC3E}">
        <p14:creationId xmlns:p14="http://schemas.microsoft.com/office/powerpoint/2010/main" val="1907488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F7DBBD-EBE8-495B-B892-780ACA8BDE7C}"/>
              </a:ext>
            </a:extLst>
          </p:cNvPr>
          <p:cNvSpPr>
            <a:spLocks noGrp="1"/>
          </p:cNvSpPr>
          <p:nvPr>
            <p:ph type="sldNum" sz="quarter" idx="12"/>
          </p:nvPr>
        </p:nvSpPr>
        <p:spPr/>
        <p:txBody>
          <a:bodyPr>
            <a:normAutofit/>
          </a:bodyPr>
          <a:lstStyle/>
          <a:p>
            <a:fld id="{00000000-1234-1234-1234-123412341234}" type="slidenum">
              <a:rPr lang="en-US" smtClean="0"/>
              <a:pPr/>
              <a:t>25</a:t>
            </a:fld>
            <a:endParaRPr lang="en-US"/>
          </a:p>
        </p:txBody>
      </p:sp>
      <p:pic>
        <p:nvPicPr>
          <p:cNvPr id="4" name="Picture 3">
            <a:extLst>
              <a:ext uri="{FF2B5EF4-FFF2-40B4-BE49-F238E27FC236}">
                <a16:creationId xmlns:a16="http://schemas.microsoft.com/office/drawing/2014/main" id="{13BC6999-59B2-4AF4-984B-C1BDEECD5DE7}"/>
              </a:ext>
            </a:extLst>
          </p:cNvPr>
          <p:cNvPicPr>
            <a:picLocks noChangeAspect="1"/>
          </p:cNvPicPr>
          <p:nvPr/>
        </p:nvPicPr>
        <p:blipFill>
          <a:blip r:embed="rId2"/>
          <a:stretch>
            <a:fillRect/>
          </a:stretch>
        </p:blipFill>
        <p:spPr>
          <a:xfrm>
            <a:off x="0" y="1819359"/>
            <a:ext cx="12192000" cy="3219282"/>
          </a:xfrm>
          <a:prstGeom prst="rect">
            <a:avLst/>
          </a:prstGeom>
        </p:spPr>
      </p:pic>
    </p:spTree>
    <p:extLst>
      <p:ext uri="{BB962C8B-B14F-4D97-AF65-F5344CB8AC3E}">
        <p14:creationId xmlns:p14="http://schemas.microsoft.com/office/powerpoint/2010/main" val="3163506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83DEB3-3D36-4F81-BA39-32E52E0B14C4}"/>
              </a:ext>
            </a:extLst>
          </p:cNvPr>
          <p:cNvSpPr>
            <a:spLocks noGrp="1"/>
          </p:cNvSpPr>
          <p:nvPr>
            <p:ph type="sldNum" sz="quarter" idx="12"/>
          </p:nvPr>
        </p:nvSpPr>
        <p:spPr/>
        <p:txBody>
          <a:bodyPr>
            <a:normAutofit/>
          </a:bodyPr>
          <a:lstStyle/>
          <a:p>
            <a:fld id="{00000000-1234-1234-1234-123412341234}" type="slidenum">
              <a:rPr lang="en-US" smtClean="0"/>
              <a:pPr/>
              <a:t>26</a:t>
            </a:fld>
            <a:endParaRPr lang="en-US"/>
          </a:p>
        </p:txBody>
      </p:sp>
      <p:pic>
        <p:nvPicPr>
          <p:cNvPr id="4" name="Picture 3">
            <a:extLst>
              <a:ext uri="{FF2B5EF4-FFF2-40B4-BE49-F238E27FC236}">
                <a16:creationId xmlns:a16="http://schemas.microsoft.com/office/drawing/2014/main" id="{778581F2-8A59-4565-A66D-DFFEE9349077}"/>
              </a:ext>
            </a:extLst>
          </p:cNvPr>
          <p:cNvPicPr>
            <a:picLocks noChangeAspect="1"/>
          </p:cNvPicPr>
          <p:nvPr/>
        </p:nvPicPr>
        <p:blipFill>
          <a:blip r:embed="rId2"/>
          <a:stretch>
            <a:fillRect/>
          </a:stretch>
        </p:blipFill>
        <p:spPr>
          <a:xfrm>
            <a:off x="0" y="1816083"/>
            <a:ext cx="12192000" cy="3225834"/>
          </a:xfrm>
          <a:prstGeom prst="rect">
            <a:avLst/>
          </a:prstGeom>
        </p:spPr>
      </p:pic>
    </p:spTree>
    <p:extLst>
      <p:ext uri="{BB962C8B-B14F-4D97-AF65-F5344CB8AC3E}">
        <p14:creationId xmlns:p14="http://schemas.microsoft.com/office/powerpoint/2010/main" val="3971451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A98FE-CA91-4E66-A8AA-AAA9670A0C89}"/>
              </a:ext>
            </a:extLst>
          </p:cNvPr>
          <p:cNvSpPr>
            <a:spLocks noGrp="1"/>
          </p:cNvSpPr>
          <p:nvPr>
            <p:ph type="title"/>
          </p:nvPr>
        </p:nvSpPr>
        <p:spPr>
          <a:xfrm>
            <a:off x="1024128" y="585216"/>
            <a:ext cx="9720072" cy="865212"/>
          </a:xfrm>
        </p:spPr>
        <p:txBody>
          <a:bodyPr/>
          <a:lstStyle/>
          <a:p>
            <a:r>
              <a:rPr lang="en-US" dirty="0"/>
              <a:t>COMPARATIVE ANALYSIS </a:t>
            </a:r>
          </a:p>
        </p:txBody>
      </p:sp>
      <p:pic>
        <p:nvPicPr>
          <p:cNvPr id="6" name="Content Placeholder 5">
            <a:extLst>
              <a:ext uri="{FF2B5EF4-FFF2-40B4-BE49-F238E27FC236}">
                <a16:creationId xmlns:a16="http://schemas.microsoft.com/office/drawing/2014/main" id="{2747C1EC-33DA-4C92-A090-6E07D790209F}"/>
              </a:ext>
            </a:extLst>
          </p:cNvPr>
          <p:cNvPicPr>
            <a:picLocks noGrp="1" noChangeAspect="1"/>
          </p:cNvPicPr>
          <p:nvPr>
            <p:ph idx="1"/>
          </p:nvPr>
        </p:nvPicPr>
        <p:blipFill>
          <a:blip r:embed="rId2"/>
          <a:stretch>
            <a:fillRect/>
          </a:stretch>
        </p:blipFill>
        <p:spPr>
          <a:xfrm>
            <a:off x="1765738" y="1734207"/>
            <a:ext cx="9186118" cy="4132924"/>
          </a:xfrm>
        </p:spPr>
      </p:pic>
      <p:sp>
        <p:nvSpPr>
          <p:cNvPr id="4" name="Slide Number Placeholder 3">
            <a:extLst>
              <a:ext uri="{FF2B5EF4-FFF2-40B4-BE49-F238E27FC236}">
                <a16:creationId xmlns:a16="http://schemas.microsoft.com/office/drawing/2014/main" id="{92A66B68-F055-48DE-BE74-5C27A222EA00}"/>
              </a:ext>
            </a:extLst>
          </p:cNvPr>
          <p:cNvSpPr>
            <a:spLocks noGrp="1"/>
          </p:cNvSpPr>
          <p:nvPr>
            <p:ph type="sldNum" sz="quarter" idx="12"/>
          </p:nvPr>
        </p:nvSpPr>
        <p:spPr/>
        <p:txBody>
          <a:bodyPr>
            <a:normAutofit/>
          </a:bodyPr>
          <a:lstStyle/>
          <a:p>
            <a:fld id="{0428C338-E682-4B46-9632-D57B5813D090}" type="slidenum">
              <a:rPr lang="en-US" smtClean="0"/>
              <a:t>27</a:t>
            </a:fld>
            <a:endParaRPr lang="en-US"/>
          </a:p>
        </p:txBody>
      </p:sp>
    </p:spTree>
    <p:extLst>
      <p:ext uri="{BB962C8B-B14F-4D97-AF65-F5344CB8AC3E}">
        <p14:creationId xmlns:p14="http://schemas.microsoft.com/office/powerpoint/2010/main" val="2851778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80759-FD5B-4855-B8F8-34C9C988A979}"/>
              </a:ext>
            </a:extLst>
          </p:cNvPr>
          <p:cNvSpPr>
            <a:spLocks noGrp="1"/>
          </p:cNvSpPr>
          <p:nvPr>
            <p:ph type="sldNum" sz="quarter" idx="12"/>
          </p:nvPr>
        </p:nvSpPr>
        <p:spPr/>
        <p:txBody>
          <a:bodyPr>
            <a:normAutofit/>
          </a:bodyPr>
          <a:lstStyle/>
          <a:p>
            <a:fld id="{00000000-1234-1234-1234-123412341234}" type="slidenum">
              <a:rPr lang="en-US" smtClean="0"/>
              <a:pPr/>
              <a:t>28</a:t>
            </a:fld>
            <a:endParaRPr lang="en-US"/>
          </a:p>
        </p:txBody>
      </p:sp>
      <p:pic>
        <p:nvPicPr>
          <p:cNvPr id="4" name="Picture 3">
            <a:extLst>
              <a:ext uri="{FF2B5EF4-FFF2-40B4-BE49-F238E27FC236}">
                <a16:creationId xmlns:a16="http://schemas.microsoft.com/office/drawing/2014/main" id="{0C189031-00BD-4C50-A785-268F6F99DE8F}"/>
              </a:ext>
            </a:extLst>
          </p:cNvPr>
          <p:cNvPicPr>
            <a:picLocks noChangeAspect="1"/>
          </p:cNvPicPr>
          <p:nvPr/>
        </p:nvPicPr>
        <p:blipFill>
          <a:blip r:embed="rId2"/>
          <a:stretch>
            <a:fillRect/>
          </a:stretch>
        </p:blipFill>
        <p:spPr>
          <a:xfrm>
            <a:off x="173421" y="1"/>
            <a:ext cx="11329602" cy="7031420"/>
          </a:xfrm>
          <a:prstGeom prst="rect">
            <a:avLst/>
          </a:prstGeom>
        </p:spPr>
      </p:pic>
    </p:spTree>
    <p:extLst>
      <p:ext uri="{BB962C8B-B14F-4D97-AF65-F5344CB8AC3E}">
        <p14:creationId xmlns:p14="http://schemas.microsoft.com/office/powerpoint/2010/main" val="3497252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406FFA-4AC0-42C1-BDBB-6351DA6B63ED}"/>
              </a:ext>
            </a:extLst>
          </p:cNvPr>
          <p:cNvSpPr>
            <a:spLocks noGrp="1"/>
          </p:cNvSpPr>
          <p:nvPr>
            <p:ph type="sldNum" sz="quarter" idx="12"/>
          </p:nvPr>
        </p:nvSpPr>
        <p:spPr/>
        <p:txBody>
          <a:bodyPr>
            <a:normAutofit/>
          </a:bodyPr>
          <a:lstStyle/>
          <a:p>
            <a:fld id="{00000000-1234-1234-1234-123412341234}" type="slidenum">
              <a:rPr lang="en-US" smtClean="0"/>
              <a:pPr/>
              <a:t>29</a:t>
            </a:fld>
            <a:endParaRPr lang="en-US"/>
          </a:p>
        </p:txBody>
      </p:sp>
      <p:pic>
        <p:nvPicPr>
          <p:cNvPr id="4" name="Picture 3">
            <a:extLst>
              <a:ext uri="{FF2B5EF4-FFF2-40B4-BE49-F238E27FC236}">
                <a16:creationId xmlns:a16="http://schemas.microsoft.com/office/drawing/2014/main" id="{9F2D3444-E5B8-450A-AD43-896051ACB929}"/>
              </a:ext>
            </a:extLst>
          </p:cNvPr>
          <p:cNvPicPr>
            <a:picLocks noChangeAspect="1"/>
          </p:cNvPicPr>
          <p:nvPr/>
        </p:nvPicPr>
        <p:blipFill>
          <a:blip r:embed="rId2"/>
          <a:stretch>
            <a:fillRect/>
          </a:stretch>
        </p:blipFill>
        <p:spPr>
          <a:xfrm>
            <a:off x="381000" y="0"/>
            <a:ext cx="11080531" cy="6858000"/>
          </a:xfrm>
          <a:prstGeom prst="rect">
            <a:avLst/>
          </a:prstGeom>
        </p:spPr>
      </p:pic>
    </p:spTree>
    <p:extLst>
      <p:ext uri="{BB962C8B-B14F-4D97-AF65-F5344CB8AC3E}">
        <p14:creationId xmlns:p14="http://schemas.microsoft.com/office/powerpoint/2010/main" val="2823393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0FA4-8BA3-4C87-90E2-12AF782D29AA}"/>
              </a:ext>
            </a:extLst>
          </p:cNvPr>
          <p:cNvSpPr>
            <a:spLocks noGrp="1"/>
          </p:cNvSpPr>
          <p:nvPr>
            <p:ph type="title"/>
          </p:nvPr>
        </p:nvSpPr>
        <p:spPr>
          <a:xfrm>
            <a:off x="1484311" y="268014"/>
            <a:ext cx="10018713" cy="977463"/>
          </a:xfrm>
        </p:spPr>
        <p:txBody>
          <a:bodyPr>
            <a:normAutofit/>
          </a:bodyPr>
          <a:lstStyle/>
          <a:p>
            <a:r>
              <a:rPr lang="en-US" dirty="0"/>
              <a:t>MODEL SELECTION AND DEPLOYMENT</a:t>
            </a:r>
          </a:p>
        </p:txBody>
      </p:sp>
      <p:sp>
        <p:nvSpPr>
          <p:cNvPr id="3" name="Content Placeholder 2">
            <a:extLst>
              <a:ext uri="{FF2B5EF4-FFF2-40B4-BE49-F238E27FC236}">
                <a16:creationId xmlns:a16="http://schemas.microsoft.com/office/drawing/2014/main" id="{F4121818-450E-4BC7-84E1-7D1455EB207C}"/>
              </a:ext>
            </a:extLst>
          </p:cNvPr>
          <p:cNvSpPr>
            <a:spLocks noGrp="1"/>
          </p:cNvSpPr>
          <p:nvPr>
            <p:ph idx="1"/>
          </p:nvPr>
        </p:nvSpPr>
        <p:spPr>
          <a:xfrm>
            <a:off x="1024128" y="1813034"/>
            <a:ext cx="9720071" cy="4776952"/>
          </a:xfrm>
        </p:spPr>
        <p:txBody>
          <a:bodyPr>
            <a:normAutofit fontScale="92500" lnSpcReduction="10000"/>
          </a:bodyPr>
          <a:lstStyle/>
          <a:p>
            <a:pPr marL="0" indent="0">
              <a:buNone/>
            </a:pPr>
            <a:r>
              <a:rPr lang="en-US" dirty="0"/>
              <a:t> We used The following models to train the Uganda population and housing census data set to check on different model performance and evaluation </a:t>
            </a:r>
          </a:p>
          <a:p>
            <a:pPr marL="457200" indent="-457200">
              <a:buFont typeface="+mj-lt"/>
              <a:buAutoNum type="arabicPeriod"/>
            </a:pPr>
            <a:r>
              <a:rPr lang="en-US" dirty="0"/>
              <a:t>Neural networks</a:t>
            </a:r>
          </a:p>
          <a:p>
            <a:pPr marL="457200" indent="-457200">
              <a:buFont typeface="+mj-lt"/>
              <a:buAutoNum type="arabicPeriod"/>
            </a:pPr>
            <a:r>
              <a:rPr lang="en-US" b="0" dirty="0">
                <a:effectLst/>
                <a:latin typeface="Consolas" panose="020B0609020204030204" pitchFamily="49" charset="0"/>
              </a:rPr>
              <a:t> XGBOOST</a:t>
            </a:r>
          </a:p>
          <a:p>
            <a:pPr marL="457200" indent="-457200">
              <a:buFont typeface="+mj-lt"/>
              <a:buAutoNum type="arabicPeriod"/>
            </a:pPr>
            <a:r>
              <a:rPr lang="en-US" b="0" dirty="0">
                <a:effectLst/>
                <a:latin typeface="Consolas" panose="020B0609020204030204" pitchFamily="49" charset="0"/>
              </a:rPr>
              <a:t>lightgbm</a:t>
            </a:r>
          </a:p>
          <a:p>
            <a:pPr marL="457200" indent="-457200">
              <a:buFont typeface="+mj-lt"/>
              <a:buAutoNum type="arabicPeriod"/>
            </a:pPr>
            <a:r>
              <a:rPr lang="en-US" b="0" dirty="0">
                <a:effectLst/>
                <a:latin typeface="Consolas" panose="020B0609020204030204" pitchFamily="49" charset="0"/>
              </a:rPr>
              <a:t>CATBOOST</a:t>
            </a:r>
          </a:p>
          <a:p>
            <a:pPr marL="457200" indent="-457200">
              <a:buFont typeface="+mj-lt"/>
              <a:buAutoNum type="arabicPeriod"/>
            </a:pPr>
            <a:r>
              <a:rPr lang="en-US" b="0" dirty="0">
                <a:effectLst/>
                <a:latin typeface="Consolas" panose="020B0609020204030204" pitchFamily="49" charset="0"/>
              </a:rPr>
              <a:t>GAUSSIAN NAIVE BAYES</a:t>
            </a:r>
          </a:p>
          <a:p>
            <a:pPr marL="457200" indent="-457200">
              <a:buFont typeface="+mj-lt"/>
              <a:buAutoNum type="arabicPeriod"/>
            </a:pPr>
            <a:r>
              <a:rPr lang="en-US" b="0" dirty="0">
                <a:effectLst/>
                <a:latin typeface="Consolas" panose="020B0609020204030204" pitchFamily="49" charset="0"/>
              </a:rPr>
              <a:t>ISOLATION FOREST</a:t>
            </a:r>
          </a:p>
          <a:p>
            <a:pPr marL="457200" indent="-457200">
              <a:buFont typeface="+mj-lt"/>
              <a:buAutoNum type="arabicPeriod"/>
            </a:pPr>
            <a:r>
              <a:rPr lang="en-US" b="0" dirty="0">
                <a:effectLst/>
                <a:latin typeface="Consolas" panose="020B0609020204030204" pitchFamily="49" charset="0"/>
              </a:rPr>
              <a:t>K-MEANS CLUSTERING</a:t>
            </a:r>
          </a:p>
          <a:p>
            <a:pPr marL="457200" indent="-457200">
              <a:buFont typeface="+mj-lt"/>
              <a:buAutoNum type="arabicPeriod"/>
            </a:pPr>
            <a:r>
              <a:rPr lang="en-US" b="0" dirty="0">
                <a:effectLst/>
                <a:latin typeface="Consolas" panose="020B0609020204030204" pitchFamily="49" charset="0"/>
              </a:rPr>
              <a:t>AUTOENCODER</a:t>
            </a:r>
          </a:p>
          <a:p>
            <a:pPr marL="457200" indent="-457200">
              <a:buFont typeface="+mj-lt"/>
              <a:buAutoNum type="arabicPeriod"/>
            </a:pPr>
            <a:r>
              <a:rPr lang="en-US" b="0" dirty="0">
                <a:effectLst/>
                <a:latin typeface="Consolas" panose="020B0609020204030204" pitchFamily="49" charset="0"/>
              </a:rPr>
              <a:t>PU BAGGING </a:t>
            </a:r>
          </a:p>
          <a:p>
            <a:pPr marL="457200" indent="-457200">
              <a:buFont typeface="+mj-lt"/>
              <a:buAutoNum type="arabicPeriod"/>
            </a:pPr>
            <a:endParaRPr lang="en-US" dirty="0"/>
          </a:p>
        </p:txBody>
      </p:sp>
      <p:sp>
        <p:nvSpPr>
          <p:cNvPr id="4" name="Slide Number Placeholder 3">
            <a:extLst>
              <a:ext uri="{FF2B5EF4-FFF2-40B4-BE49-F238E27FC236}">
                <a16:creationId xmlns:a16="http://schemas.microsoft.com/office/drawing/2014/main" id="{FE45C217-E2F6-44A0-BF78-D62FD1DBD876}"/>
              </a:ext>
            </a:extLst>
          </p:cNvPr>
          <p:cNvSpPr>
            <a:spLocks noGrp="1"/>
          </p:cNvSpPr>
          <p:nvPr>
            <p:ph type="sldNum" sz="quarter" idx="12"/>
          </p:nvPr>
        </p:nvSpPr>
        <p:spPr/>
        <p:txBody>
          <a:bodyPr>
            <a:normAutofit/>
          </a:bodyPr>
          <a:lstStyle/>
          <a:p>
            <a:fld id="{0428C338-E682-4B46-9632-D57B5813D090}" type="slidenum">
              <a:rPr lang="en-US" smtClean="0"/>
              <a:t>30</a:t>
            </a:fld>
            <a:endParaRPr lang="en-US"/>
          </a:p>
        </p:txBody>
      </p:sp>
    </p:spTree>
    <p:extLst>
      <p:ext uri="{BB962C8B-B14F-4D97-AF65-F5344CB8AC3E}">
        <p14:creationId xmlns:p14="http://schemas.microsoft.com/office/powerpoint/2010/main" val="1968459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CDFB3-7173-4AA2-8D0D-CCAFB7A234E0}"/>
              </a:ext>
            </a:extLst>
          </p:cNvPr>
          <p:cNvSpPr>
            <a:spLocks noGrp="1"/>
          </p:cNvSpPr>
          <p:nvPr>
            <p:ph type="title"/>
          </p:nvPr>
        </p:nvSpPr>
        <p:spPr/>
        <p:txBody>
          <a:bodyPr/>
          <a:lstStyle/>
          <a:p>
            <a:r>
              <a:rPr lang="en-US" dirty="0"/>
              <a:t>NEURAL NETWORKS </a:t>
            </a:r>
          </a:p>
        </p:txBody>
      </p:sp>
      <p:sp>
        <p:nvSpPr>
          <p:cNvPr id="3" name="Content Placeholder 2">
            <a:extLst>
              <a:ext uri="{FF2B5EF4-FFF2-40B4-BE49-F238E27FC236}">
                <a16:creationId xmlns:a16="http://schemas.microsoft.com/office/drawing/2014/main" id="{4BCEB37A-5665-4F50-A2B6-FE7A8F6B3EAA}"/>
              </a:ext>
            </a:extLst>
          </p:cNvPr>
          <p:cNvSpPr>
            <a:spLocks noGrp="1"/>
          </p:cNvSpPr>
          <p:nvPr>
            <p:ph idx="1"/>
          </p:nvPr>
        </p:nvSpPr>
        <p:spPr/>
        <p:txBody>
          <a:bodyPr/>
          <a:lstStyle/>
          <a:p>
            <a:r>
              <a:rPr lang="en-US" dirty="0"/>
              <a:t>THE ARCHITECTURE </a:t>
            </a:r>
          </a:p>
          <a:p>
            <a:r>
              <a:rPr lang="en-US" b="1" i="0" dirty="0">
                <a:effectLst/>
                <a:latin typeface="quote-cjk-patch"/>
              </a:rPr>
              <a:t>Type:</a:t>
            </a:r>
            <a:r>
              <a:rPr lang="en-US" b="0" i="0" dirty="0">
                <a:effectLst/>
                <a:latin typeface="quote-cjk-patch"/>
              </a:rPr>
              <a:t> Multi‑Layer Perceptron (MLP) – a feedforward neural network</a:t>
            </a:r>
          </a:p>
          <a:p>
            <a:r>
              <a:rPr lang="en-US" b="1" i="0" dirty="0">
                <a:effectLst/>
                <a:latin typeface="quote-cjk-patch"/>
              </a:rPr>
              <a:t>Input layer:</a:t>
            </a:r>
            <a:r>
              <a:rPr lang="en-US" b="0" i="0" dirty="0">
                <a:effectLst/>
                <a:latin typeface="quote-cjk-patch"/>
              </a:rPr>
              <a:t> Number of neurons = number of features (after preprocessing)</a:t>
            </a:r>
          </a:p>
          <a:p>
            <a:r>
              <a:rPr lang="en-US" b="1" i="0" dirty="0">
                <a:effectLst/>
                <a:latin typeface="quote-cjk-patch"/>
              </a:rPr>
              <a:t>Layer 1:</a:t>
            </a:r>
            <a:r>
              <a:rPr lang="en-US" b="0" i="0" dirty="0">
                <a:effectLst/>
                <a:latin typeface="quote-cjk-patch"/>
              </a:rPr>
              <a:t> 100 neurons with </a:t>
            </a:r>
            <a:r>
              <a:rPr lang="en-US" b="1" i="0" dirty="0">
                <a:effectLst/>
                <a:latin typeface="quote-cjk-patch"/>
              </a:rPr>
              <a:t>ReLU</a:t>
            </a:r>
            <a:r>
              <a:rPr lang="en-US" b="0" i="0" dirty="0">
                <a:effectLst/>
                <a:latin typeface="quote-cjk-patch"/>
              </a:rPr>
              <a:t> activation</a:t>
            </a:r>
          </a:p>
          <a:p>
            <a:r>
              <a:rPr lang="en-US" b="1" i="0" dirty="0">
                <a:effectLst/>
                <a:latin typeface="quote-cjk-patch"/>
              </a:rPr>
              <a:t>Layer 2:</a:t>
            </a:r>
            <a:r>
              <a:rPr lang="en-US" b="0" i="0" dirty="0">
                <a:effectLst/>
                <a:latin typeface="quote-cjk-patch"/>
              </a:rPr>
              <a:t> 50 neurons with </a:t>
            </a:r>
            <a:r>
              <a:rPr lang="en-US" b="1" i="0" dirty="0">
                <a:effectLst/>
                <a:latin typeface="quote-cjk-patch"/>
              </a:rPr>
              <a:t>ReLU</a:t>
            </a:r>
            <a:r>
              <a:rPr lang="en-US" b="0" i="0" dirty="0">
                <a:effectLst/>
                <a:latin typeface="quote-cjk-patch"/>
              </a:rPr>
              <a:t> activation</a:t>
            </a:r>
          </a:p>
          <a:p>
            <a:r>
              <a:rPr lang="en-US" b="1" i="0" dirty="0">
                <a:effectLst/>
                <a:latin typeface="quote-cjk-patch"/>
              </a:rPr>
              <a:t>Output layer:</a:t>
            </a:r>
            <a:r>
              <a:rPr lang="en-US" b="0" i="0" dirty="0">
                <a:effectLst/>
                <a:latin typeface="quote-cjk-patch"/>
              </a:rPr>
              <a:t> 1 neuron with </a:t>
            </a:r>
            <a:r>
              <a:rPr lang="en-US" b="1" i="0" dirty="0">
                <a:effectLst/>
                <a:latin typeface="quote-cjk-patch"/>
              </a:rPr>
              <a:t>sigmoid</a:t>
            </a:r>
            <a:r>
              <a:rPr lang="en-US" b="0" i="0" dirty="0">
                <a:effectLst/>
                <a:latin typeface="quote-cjk-patch"/>
              </a:rPr>
              <a:t> activation (binary classification)</a:t>
            </a:r>
          </a:p>
          <a:p>
            <a:endParaRPr lang="en-US" dirty="0"/>
          </a:p>
        </p:txBody>
      </p:sp>
      <p:sp>
        <p:nvSpPr>
          <p:cNvPr id="4" name="Slide Number Placeholder 3">
            <a:extLst>
              <a:ext uri="{FF2B5EF4-FFF2-40B4-BE49-F238E27FC236}">
                <a16:creationId xmlns:a16="http://schemas.microsoft.com/office/drawing/2014/main" id="{74D9DB74-ECE6-42C6-8AC5-B6307F165996}"/>
              </a:ext>
            </a:extLst>
          </p:cNvPr>
          <p:cNvSpPr>
            <a:spLocks noGrp="1"/>
          </p:cNvSpPr>
          <p:nvPr>
            <p:ph type="sldNum" sz="quarter" idx="12"/>
          </p:nvPr>
        </p:nvSpPr>
        <p:spPr/>
        <p:txBody>
          <a:bodyPr>
            <a:normAutofit/>
          </a:bodyPr>
          <a:lstStyle/>
          <a:p>
            <a:fld id="{0428C338-E682-4B46-9632-D57B5813D090}" type="slidenum">
              <a:rPr lang="en-US" smtClean="0"/>
              <a:t>31</a:t>
            </a:fld>
            <a:endParaRPr lang="en-US"/>
          </a:p>
        </p:txBody>
      </p:sp>
    </p:spTree>
    <p:extLst>
      <p:ext uri="{BB962C8B-B14F-4D97-AF65-F5344CB8AC3E}">
        <p14:creationId xmlns:p14="http://schemas.microsoft.com/office/powerpoint/2010/main" val="818820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AA2E-1B45-41DD-BAFC-FDD129B425E7}"/>
              </a:ext>
            </a:extLst>
          </p:cNvPr>
          <p:cNvSpPr>
            <a:spLocks noGrp="1"/>
          </p:cNvSpPr>
          <p:nvPr>
            <p:ph type="title"/>
          </p:nvPr>
        </p:nvSpPr>
        <p:spPr/>
        <p:txBody>
          <a:bodyPr/>
          <a:lstStyle/>
          <a:p>
            <a:r>
              <a:rPr lang="en-US" dirty="0"/>
              <a:t>THE NEURAL NETWORK MODEL PERFORMANCE</a:t>
            </a:r>
          </a:p>
        </p:txBody>
      </p:sp>
      <p:pic>
        <p:nvPicPr>
          <p:cNvPr id="6" name="Content Placeholder 5">
            <a:extLst>
              <a:ext uri="{FF2B5EF4-FFF2-40B4-BE49-F238E27FC236}">
                <a16:creationId xmlns:a16="http://schemas.microsoft.com/office/drawing/2014/main" id="{DA572F8E-0FBA-4EDE-8918-04B305EE8D61}"/>
              </a:ext>
            </a:extLst>
          </p:cNvPr>
          <p:cNvPicPr>
            <a:picLocks noGrp="1" noChangeAspect="1"/>
          </p:cNvPicPr>
          <p:nvPr>
            <p:ph idx="1"/>
          </p:nvPr>
        </p:nvPicPr>
        <p:blipFill>
          <a:blip r:embed="rId2"/>
          <a:stretch>
            <a:fillRect/>
          </a:stretch>
        </p:blipFill>
        <p:spPr>
          <a:xfrm>
            <a:off x="1484311" y="2128346"/>
            <a:ext cx="9299303" cy="4103910"/>
          </a:xfrm>
        </p:spPr>
      </p:pic>
      <p:sp>
        <p:nvSpPr>
          <p:cNvPr id="4" name="Slide Number Placeholder 3">
            <a:extLst>
              <a:ext uri="{FF2B5EF4-FFF2-40B4-BE49-F238E27FC236}">
                <a16:creationId xmlns:a16="http://schemas.microsoft.com/office/drawing/2014/main" id="{07D41482-CF58-4614-AEBE-031881DE4240}"/>
              </a:ext>
            </a:extLst>
          </p:cNvPr>
          <p:cNvSpPr>
            <a:spLocks noGrp="1"/>
          </p:cNvSpPr>
          <p:nvPr>
            <p:ph type="sldNum" sz="quarter" idx="12"/>
          </p:nvPr>
        </p:nvSpPr>
        <p:spPr/>
        <p:txBody>
          <a:bodyPr>
            <a:normAutofit/>
          </a:bodyPr>
          <a:lstStyle/>
          <a:p>
            <a:fld id="{0428C338-E682-4B46-9632-D57B5813D090}" type="slidenum">
              <a:rPr lang="en-US" smtClean="0"/>
              <a:t>32</a:t>
            </a:fld>
            <a:endParaRPr lang="en-US"/>
          </a:p>
        </p:txBody>
      </p:sp>
    </p:spTree>
    <p:extLst>
      <p:ext uri="{BB962C8B-B14F-4D97-AF65-F5344CB8AC3E}">
        <p14:creationId xmlns:p14="http://schemas.microsoft.com/office/powerpoint/2010/main" val="3104928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D3B4-5E3B-4931-8287-44C159C2EB29}"/>
              </a:ext>
            </a:extLst>
          </p:cNvPr>
          <p:cNvSpPr>
            <a:spLocks noGrp="1"/>
          </p:cNvSpPr>
          <p:nvPr>
            <p:ph type="title"/>
          </p:nvPr>
        </p:nvSpPr>
        <p:spPr/>
        <p:txBody>
          <a:bodyPr/>
          <a:lstStyle/>
          <a:p>
            <a:r>
              <a:rPr lang="en-US" dirty="0"/>
              <a:t>OBSERVATIONS</a:t>
            </a:r>
          </a:p>
        </p:txBody>
      </p:sp>
      <p:sp>
        <p:nvSpPr>
          <p:cNvPr id="3" name="Content Placeholder 2">
            <a:extLst>
              <a:ext uri="{FF2B5EF4-FFF2-40B4-BE49-F238E27FC236}">
                <a16:creationId xmlns:a16="http://schemas.microsoft.com/office/drawing/2014/main" id="{39600407-0CB8-43F7-B8C7-B4E9741A82E9}"/>
              </a:ext>
            </a:extLst>
          </p:cNvPr>
          <p:cNvSpPr>
            <a:spLocks noGrp="1"/>
          </p:cNvSpPr>
          <p:nvPr>
            <p:ph idx="1"/>
          </p:nvPr>
        </p:nvSpPr>
        <p:spPr/>
        <p:txBody>
          <a:bodyPr/>
          <a:lstStyle/>
          <a:p>
            <a:r>
              <a:rPr lang="en-US" b="0" i="0" dirty="0">
                <a:effectLst/>
                <a:latin typeface="quote-cjk-patch"/>
              </a:rPr>
              <a:t>The network learns </a:t>
            </a:r>
            <a:r>
              <a:rPr lang="en-US" b="1" i="0" dirty="0">
                <a:effectLst/>
                <a:latin typeface="quote-cjk-patch"/>
              </a:rPr>
              <a:t>complex non‑linear relationships</a:t>
            </a:r>
            <a:r>
              <a:rPr lang="en-US" b="0" i="0" dirty="0">
                <a:effectLst/>
                <a:latin typeface="quote-cjk-patch"/>
              </a:rPr>
              <a:t> in the data.</a:t>
            </a:r>
          </a:p>
          <a:p>
            <a:r>
              <a:rPr lang="en-US" b="0" i="0" dirty="0">
                <a:effectLst/>
                <a:latin typeface="quote-cjk-patch"/>
              </a:rPr>
              <a:t>Balanced performance across both classes (F1 = 0.87).</a:t>
            </a:r>
          </a:p>
          <a:p>
            <a:r>
              <a:rPr lang="en-US" b="0" i="0" dirty="0">
                <a:effectLst/>
                <a:latin typeface="quote-cjk-patch"/>
              </a:rPr>
              <a:t>Slightly better at identifying </a:t>
            </a:r>
            <a:r>
              <a:rPr lang="en-US" b="1" i="0" dirty="0">
                <a:effectLst/>
                <a:latin typeface="quote-cjk-patch"/>
              </a:rPr>
              <a:t>internet users</a:t>
            </a:r>
            <a:r>
              <a:rPr lang="en-US" b="0" i="0" dirty="0">
                <a:effectLst/>
                <a:latin typeface="quote-cjk-patch"/>
              </a:rPr>
              <a:t> (recall 0.90) than non‑users.</a:t>
            </a:r>
          </a:p>
          <a:p>
            <a:r>
              <a:rPr lang="en-US" b="0" i="0" dirty="0">
                <a:effectLst/>
                <a:latin typeface="quote-cjk-patch"/>
              </a:rPr>
              <a:t>Training time is longer than tree‑based models, but still feasible for a dataset of this size.</a:t>
            </a:r>
          </a:p>
          <a:p>
            <a:endParaRPr lang="en-US" dirty="0"/>
          </a:p>
        </p:txBody>
      </p:sp>
      <p:sp>
        <p:nvSpPr>
          <p:cNvPr id="4" name="Slide Number Placeholder 3">
            <a:extLst>
              <a:ext uri="{FF2B5EF4-FFF2-40B4-BE49-F238E27FC236}">
                <a16:creationId xmlns:a16="http://schemas.microsoft.com/office/drawing/2014/main" id="{5F817531-8489-4A95-AB3C-5C99A150F20A}"/>
              </a:ext>
            </a:extLst>
          </p:cNvPr>
          <p:cNvSpPr>
            <a:spLocks noGrp="1"/>
          </p:cNvSpPr>
          <p:nvPr>
            <p:ph type="sldNum" sz="quarter" idx="12"/>
          </p:nvPr>
        </p:nvSpPr>
        <p:spPr/>
        <p:txBody>
          <a:bodyPr>
            <a:normAutofit/>
          </a:bodyPr>
          <a:lstStyle/>
          <a:p>
            <a:fld id="{0428C338-E682-4B46-9632-D57B5813D090}" type="slidenum">
              <a:rPr lang="en-US" smtClean="0"/>
              <a:t>33</a:t>
            </a:fld>
            <a:endParaRPr lang="en-US"/>
          </a:p>
        </p:txBody>
      </p:sp>
    </p:spTree>
    <p:extLst>
      <p:ext uri="{BB962C8B-B14F-4D97-AF65-F5344CB8AC3E}">
        <p14:creationId xmlns:p14="http://schemas.microsoft.com/office/powerpoint/2010/main" val="1477479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AE12-A146-4349-99BB-BAEB3E0A684C}"/>
              </a:ext>
            </a:extLst>
          </p:cNvPr>
          <p:cNvSpPr>
            <a:spLocks noGrp="1"/>
          </p:cNvSpPr>
          <p:nvPr>
            <p:ph type="title"/>
          </p:nvPr>
        </p:nvSpPr>
        <p:spPr/>
        <p:txBody>
          <a:bodyPr/>
          <a:lstStyle/>
          <a:p>
            <a:r>
              <a:rPr lang="en-US" dirty="0"/>
              <a:t>XGBOOST </a:t>
            </a:r>
          </a:p>
        </p:txBody>
      </p:sp>
      <p:sp>
        <p:nvSpPr>
          <p:cNvPr id="3" name="Content Placeholder 2">
            <a:extLst>
              <a:ext uri="{FF2B5EF4-FFF2-40B4-BE49-F238E27FC236}">
                <a16:creationId xmlns:a16="http://schemas.microsoft.com/office/drawing/2014/main" id="{6FDF4B13-7E9D-44CD-8E9E-13EE56DB3386}"/>
              </a:ext>
            </a:extLst>
          </p:cNvPr>
          <p:cNvSpPr>
            <a:spLocks noGrp="1"/>
          </p:cNvSpPr>
          <p:nvPr>
            <p:ph idx="1"/>
          </p:nvPr>
        </p:nvSpPr>
        <p:spPr/>
        <p:txBody>
          <a:bodyPr>
            <a:normAutofit fontScale="62500" lnSpcReduction="20000"/>
          </a:bodyPr>
          <a:lstStyle/>
          <a:p>
            <a:r>
              <a:rPr lang="en-US" dirty="0"/>
              <a:t>ARCHITECTURE</a:t>
            </a:r>
          </a:p>
          <a:p>
            <a:r>
              <a:rPr lang="en-US" b="1" i="0" dirty="0">
                <a:effectLst/>
                <a:latin typeface="quote-cjk-patch"/>
              </a:rPr>
              <a:t>Type:</a:t>
            </a:r>
            <a:r>
              <a:rPr lang="en-US" b="0" i="0" dirty="0">
                <a:effectLst/>
                <a:latin typeface="quote-cjk-patch"/>
              </a:rPr>
              <a:t> Ensemble of decision trees using gradient boosting</a:t>
            </a:r>
          </a:p>
          <a:p>
            <a:r>
              <a:rPr lang="en-US" b="1" i="0" dirty="0">
                <a:effectLst/>
                <a:latin typeface="quote-cjk-patch"/>
              </a:rPr>
              <a:t>Boosting rounds:</a:t>
            </a:r>
            <a:r>
              <a:rPr lang="en-US" b="0" i="0" dirty="0">
                <a:effectLst/>
                <a:latin typeface="quote-cjk-patch"/>
              </a:rPr>
              <a:t> 100 trees</a:t>
            </a:r>
          </a:p>
          <a:p>
            <a:r>
              <a:rPr lang="en-US" b="1" i="0" dirty="0">
                <a:effectLst/>
                <a:latin typeface="quote-cjk-patch"/>
              </a:rPr>
              <a:t>Max tree depth:</a:t>
            </a:r>
            <a:r>
              <a:rPr lang="en-US" b="0" i="0" dirty="0">
                <a:effectLst/>
                <a:latin typeface="quote-cjk-patch"/>
              </a:rPr>
              <a:t> 6</a:t>
            </a:r>
          </a:p>
          <a:p>
            <a:r>
              <a:rPr lang="en-US" b="1" i="0" dirty="0">
                <a:effectLst/>
                <a:latin typeface="quote-cjk-patch"/>
              </a:rPr>
              <a:t>Learning rate:</a:t>
            </a:r>
            <a:r>
              <a:rPr lang="en-US" b="0" i="0" dirty="0">
                <a:effectLst/>
                <a:latin typeface="quote-cjk-patch"/>
              </a:rPr>
              <a:t> 0.1</a:t>
            </a:r>
          </a:p>
          <a:p>
            <a:r>
              <a:rPr lang="en-US" b="1" i="0" dirty="0">
                <a:effectLst/>
                <a:latin typeface="quote-cjk-patch"/>
              </a:rPr>
              <a:t>Subsampling:</a:t>
            </a:r>
            <a:r>
              <a:rPr lang="en-US" b="0" i="0" dirty="0">
                <a:effectLst/>
                <a:latin typeface="quote-cjk-patch"/>
              </a:rPr>
              <a:t> 80% of samples per tree</a:t>
            </a:r>
          </a:p>
          <a:p>
            <a:r>
              <a:rPr lang="en-US" b="1" i="0" dirty="0">
                <a:effectLst/>
                <a:latin typeface="quote-cjk-patch"/>
              </a:rPr>
              <a:t>Feature sampling:</a:t>
            </a:r>
            <a:r>
              <a:rPr lang="en-US" b="0" i="0" dirty="0">
                <a:effectLst/>
                <a:latin typeface="quote-cjk-patch"/>
              </a:rPr>
              <a:t> 80% of features per tree</a:t>
            </a:r>
            <a:endParaRPr lang="en-US" dirty="0">
              <a:latin typeface="quote-cjk-patch"/>
            </a:endParaRPr>
          </a:p>
          <a:p>
            <a:r>
              <a:rPr lang="en-US" b="1" i="0" dirty="0">
                <a:effectLst/>
                <a:latin typeface="quote-cjk-patch"/>
              </a:rPr>
              <a:t>Loss function:</a:t>
            </a:r>
            <a:r>
              <a:rPr lang="en-US" b="0" i="0" dirty="0">
                <a:effectLst/>
                <a:latin typeface="quote-cjk-patch"/>
              </a:rPr>
              <a:t> Log loss (binary classification)</a:t>
            </a:r>
          </a:p>
          <a:p>
            <a:r>
              <a:rPr lang="en-US" b="0" i="0" dirty="0">
                <a:effectLst/>
                <a:latin typeface="quote-cjk-patch"/>
              </a:rPr>
              <a:t>Xgboost builds trees </a:t>
            </a:r>
            <a:r>
              <a:rPr lang="en-US" b="1" i="0" dirty="0">
                <a:effectLst/>
                <a:latin typeface="quote-cjk-patch"/>
              </a:rPr>
              <a:t>sequentially</a:t>
            </a:r>
            <a:r>
              <a:rPr lang="en-US" b="0" i="0" dirty="0">
                <a:effectLst/>
                <a:latin typeface="quote-cjk-patch"/>
              </a:rPr>
              <a:t> ,each new tree focuses on correcting the errors made by the previous ensemble. This iterative refinement produces a powerful predictive model</a:t>
            </a:r>
          </a:p>
          <a:p>
            <a:endParaRPr lang="en-US" b="0" i="0" dirty="0">
              <a:effectLst/>
              <a:latin typeface="quote-cjk-patch"/>
            </a:endParaRPr>
          </a:p>
          <a:p>
            <a:endParaRPr lang="en-US" dirty="0"/>
          </a:p>
        </p:txBody>
      </p:sp>
      <p:sp>
        <p:nvSpPr>
          <p:cNvPr id="4" name="Slide Number Placeholder 3">
            <a:extLst>
              <a:ext uri="{FF2B5EF4-FFF2-40B4-BE49-F238E27FC236}">
                <a16:creationId xmlns:a16="http://schemas.microsoft.com/office/drawing/2014/main" id="{FCE55367-FC65-4C6E-927F-8DA3E99BFFA9}"/>
              </a:ext>
            </a:extLst>
          </p:cNvPr>
          <p:cNvSpPr>
            <a:spLocks noGrp="1"/>
          </p:cNvSpPr>
          <p:nvPr>
            <p:ph type="sldNum" sz="quarter" idx="12"/>
          </p:nvPr>
        </p:nvSpPr>
        <p:spPr/>
        <p:txBody>
          <a:bodyPr>
            <a:normAutofit/>
          </a:bodyPr>
          <a:lstStyle/>
          <a:p>
            <a:fld id="{0428C338-E682-4B46-9632-D57B5813D090}" type="slidenum">
              <a:rPr lang="en-US" smtClean="0"/>
              <a:t>34</a:t>
            </a:fld>
            <a:endParaRPr lang="en-US"/>
          </a:p>
        </p:txBody>
      </p:sp>
    </p:spTree>
    <p:extLst>
      <p:ext uri="{BB962C8B-B14F-4D97-AF65-F5344CB8AC3E}">
        <p14:creationId xmlns:p14="http://schemas.microsoft.com/office/powerpoint/2010/main" val="2728065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E375A-6752-4DB3-B3C7-1865EBB3CCE2}"/>
              </a:ext>
            </a:extLst>
          </p:cNvPr>
          <p:cNvSpPr>
            <a:spLocks noGrp="1"/>
          </p:cNvSpPr>
          <p:nvPr>
            <p:ph type="title"/>
          </p:nvPr>
        </p:nvSpPr>
        <p:spPr/>
        <p:txBody>
          <a:bodyPr/>
          <a:lstStyle/>
          <a:p>
            <a:r>
              <a:rPr lang="en-US" dirty="0"/>
              <a:t>TRAINING OF THE MODEL</a:t>
            </a:r>
          </a:p>
        </p:txBody>
      </p:sp>
      <p:sp>
        <p:nvSpPr>
          <p:cNvPr id="3" name="Content Placeholder 2">
            <a:extLst>
              <a:ext uri="{FF2B5EF4-FFF2-40B4-BE49-F238E27FC236}">
                <a16:creationId xmlns:a16="http://schemas.microsoft.com/office/drawing/2014/main" id="{CB82D85E-E7BA-4D97-A642-F3110B08CE95}"/>
              </a:ext>
            </a:extLst>
          </p:cNvPr>
          <p:cNvSpPr>
            <a:spLocks noGrp="1"/>
          </p:cNvSpPr>
          <p:nvPr>
            <p:ph idx="1"/>
          </p:nvPr>
        </p:nvSpPr>
        <p:spPr/>
        <p:txBody>
          <a:bodyPr/>
          <a:lstStyle/>
          <a:p>
            <a:r>
              <a:rPr lang="en-US" b="1" i="0" dirty="0">
                <a:effectLst/>
                <a:latin typeface="quote-cjk-patch"/>
              </a:rPr>
              <a:t>Data:</a:t>
            </a:r>
            <a:r>
              <a:rPr lang="en-US" b="0" i="0" dirty="0">
                <a:effectLst/>
                <a:latin typeface="quote-cjk-patch"/>
              </a:rPr>
              <a:t> 400,000 training samples, 100,000 test samples (original imbalanced classes)</a:t>
            </a:r>
          </a:p>
          <a:p>
            <a:endParaRPr lang="en-US" dirty="0"/>
          </a:p>
        </p:txBody>
      </p:sp>
      <p:sp>
        <p:nvSpPr>
          <p:cNvPr id="4" name="Slide Number Placeholder 3">
            <a:extLst>
              <a:ext uri="{FF2B5EF4-FFF2-40B4-BE49-F238E27FC236}">
                <a16:creationId xmlns:a16="http://schemas.microsoft.com/office/drawing/2014/main" id="{BD3A6BDC-773B-4C33-A96E-EEB8953AD93D}"/>
              </a:ext>
            </a:extLst>
          </p:cNvPr>
          <p:cNvSpPr>
            <a:spLocks noGrp="1"/>
          </p:cNvSpPr>
          <p:nvPr>
            <p:ph type="sldNum" sz="quarter" idx="12"/>
          </p:nvPr>
        </p:nvSpPr>
        <p:spPr/>
        <p:txBody>
          <a:bodyPr>
            <a:normAutofit/>
          </a:bodyPr>
          <a:lstStyle/>
          <a:p>
            <a:fld id="{0428C338-E682-4B46-9632-D57B5813D090}" type="slidenum">
              <a:rPr lang="en-US" smtClean="0"/>
              <a:t>35</a:t>
            </a:fld>
            <a:endParaRPr lang="en-US"/>
          </a:p>
        </p:txBody>
      </p:sp>
      <p:pic>
        <p:nvPicPr>
          <p:cNvPr id="6" name="Picture 5">
            <a:extLst>
              <a:ext uri="{FF2B5EF4-FFF2-40B4-BE49-F238E27FC236}">
                <a16:creationId xmlns:a16="http://schemas.microsoft.com/office/drawing/2014/main" id="{AEBB5DB2-8ED9-44A4-8F09-28EA0DD64E3B}"/>
              </a:ext>
            </a:extLst>
          </p:cNvPr>
          <p:cNvPicPr>
            <a:picLocks noChangeAspect="1"/>
          </p:cNvPicPr>
          <p:nvPr/>
        </p:nvPicPr>
        <p:blipFill>
          <a:blip r:embed="rId2"/>
          <a:stretch>
            <a:fillRect/>
          </a:stretch>
        </p:blipFill>
        <p:spPr>
          <a:xfrm>
            <a:off x="394139" y="2002221"/>
            <a:ext cx="11445764" cy="4445876"/>
          </a:xfrm>
          <a:prstGeom prst="rect">
            <a:avLst/>
          </a:prstGeom>
        </p:spPr>
      </p:pic>
    </p:spTree>
    <p:extLst>
      <p:ext uri="{BB962C8B-B14F-4D97-AF65-F5344CB8AC3E}">
        <p14:creationId xmlns:p14="http://schemas.microsoft.com/office/powerpoint/2010/main" val="4236951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BD37C-3F15-48BD-8D54-C6E035F97CB4}"/>
              </a:ext>
            </a:extLst>
          </p:cNvPr>
          <p:cNvSpPr>
            <a:spLocks noGrp="1"/>
          </p:cNvSpPr>
          <p:nvPr>
            <p:ph type="title"/>
          </p:nvPr>
        </p:nvSpPr>
        <p:spPr/>
        <p:txBody>
          <a:bodyPr/>
          <a:lstStyle/>
          <a:p>
            <a:r>
              <a:rPr lang="en-US" dirty="0"/>
              <a:t>FEATURE PERFORMANCE</a:t>
            </a:r>
          </a:p>
        </p:txBody>
      </p:sp>
      <p:pic>
        <p:nvPicPr>
          <p:cNvPr id="6" name="Content Placeholder 5">
            <a:extLst>
              <a:ext uri="{FF2B5EF4-FFF2-40B4-BE49-F238E27FC236}">
                <a16:creationId xmlns:a16="http://schemas.microsoft.com/office/drawing/2014/main" id="{ED60F3FE-A7CF-470C-A614-A679134E88FB}"/>
              </a:ext>
            </a:extLst>
          </p:cNvPr>
          <p:cNvPicPr>
            <a:picLocks noGrp="1" noChangeAspect="1"/>
          </p:cNvPicPr>
          <p:nvPr>
            <p:ph idx="1"/>
          </p:nvPr>
        </p:nvPicPr>
        <p:blipFill>
          <a:blip r:embed="rId2"/>
          <a:stretch>
            <a:fillRect/>
          </a:stretch>
        </p:blipFill>
        <p:spPr>
          <a:xfrm>
            <a:off x="1484311" y="2112579"/>
            <a:ext cx="10276765" cy="4587766"/>
          </a:xfrm>
        </p:spPr>
      </p:pic>
      <p:sp>
        <p:nvSpPr>
          <p:cNvPr id="4" name="Slide Number Placeholder 3">
            <a:extLst>
              <a:ext uri="{FF2B5EF4-FFF2-40B4-BE49-F238E27FC236}">
                <a16:creationId xmlns:a16="http://schemas.microsoft.com/office/drawing/2014/main" id="{B8C7B5B7-53FD-4B55-A863-9EBF452ABB0F}"/>
              </a:ext>
            </a:extLst>
          </p:cNvPr>
          <p:cNvSpPr>
            <a:spLocks noGrp="1"/>
          </p:cNvSpPr>
          <p:nvPr>
            <p:ph type="sldNum" sz="quarter" idx="12"/>
          </p:nvPr>
        </p:nvSpPr>
        <p:spPr/>
        <p:txBody>
          <a:bodyPr>
            <a:normAutofit/>
          </a:bodyPr>
          <a:lstStyle/>
          <a:p>
            <a:fld id="{0428C338-E682-4B46-9632-D57B5813D090}" type="slidenum">
              <a:rPr lang="en-US" smtClean="0"/>
              <a:t>36</a:t>
            </a:fld>
            <a:endParaRPr lang="en-US"/>
          </a:p>
        </p:txBody>
      </p:sp>
    </p:spTree>
    <p:extLst>
      <p:ext uri="{BB962C8B-B14F-4D97-AF65-F5344CB8AC3E}">
        <p14:creationId xmlns:p14="http://schemas.microsoft.com/office/powerpoint/2010/main" val="297373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53DC-63EA-4001-9CBB-6EFBD1199872}"/>
              </a:ext>
            </a:extLst>
          </p:cNvPr>
          <p:cNvSpPr>
            <a:spLocks noGrp="1"/>
          </p:cNvSpPr>
          <p:nvPr>
            <p:ph type="title"/>
          </p:nvPr>
        </p:nvSpPr>
        <p:spPr>
          <a:xfrm>
            <a:off x="1024128" y="616748"/>
            <a:ext cx="9720072" cy="281887"/>
          </a:xfrm>
        </p:spPr>
        <p:txBody>
          <a:bodyPr>
            <a:normAutofit fontScale="90000"/>
          </a:bodyPr>
          <a:lstStyle/>
          <a:p>
            <a:r>
              <a:rPr lang="en-US" dirty="0"/>
              <a:t>ROC CURVE</a:t>
            </a:r>
          </a:p>
        </p:txBody>
      </p:sp>
      <p:pic>
        <p:nvPicPr>
          <p:cNvPr id="6" name="Content Placeholder 5">
            <a:extLst>
              <a:ext uri="{FF2B5EF4-FFF2-40B4-BE49-F238E27FC236}">
                <a16:creationId xmlns:a16="http://schemas.microsoft.com/office/drawing/2014/main" id="{375149B7-3151-44C4-860D-EEA5DB178F3A}"/>
              </a:ext>
            </a:extLst>
          </p:cNvPr>
          <p:cNvPicPr>
            <a:picLocks noGrp="1" noChangeAspect="1"/>
          </p:cNvPicPr>
          <p:nvPr>
            <p:ph idx="1"/>
          </p:nvPr>
        </p:nvPicPr>
        <p:blipFill>
          <a:blip r:embed="rId2"/>
          <a:stretch>
            <a:fillRect/>
          </a:stretch>
        </p:blipFill>
        <p:spPr>
          <a:xfrm>
            <a:off x="1024128" y="1024759"/>
            <a:ext cx="9720072" cy="5596758"/>
          </a:xfrm>
        </p:spPr>
      </p:pic>
      <p:sp>
        <p:nvSpPr>
          <p:cNvPr id="4" name="Slide Number Placeholder 3">
            <a:extLst>
              <a:ext uri="{FF2B5EF4-FFF2-40B4-BE49-F238E27FC236}">
                <a16:creationId xmlns:a16="http://schemas.microsoft.com/office/drawing/2014/main" id="{B6927157-4DE7-4044-A4DA-18FC167C0FB3}"/>
              </a:ext>
            </a:extLst>
          </p:cNvPr>
          <p:cNvSpPr>
            <a:spLocks noGrp="1"/>
          </p:cNvSpPr>
          <p:nvPr>
            <p:ph type="sldNum" sz="quarter" idx="12"/>
          </p:nvPr>
        </p:nvSpPr>
        <p:spPr/>
        <p:txBody>
          <a:bodyPr>
            <a:normAutofit/>
          </a:bodyPr>
          <a:lstStyle/>
          <a:p>
            <a:fld id="{0428C338-E682-4B46-9632-D57B5813D090}" type="slidenum">
              <a:rPr lang="en-US" smtClean="0"/>
              <a:t>37</a:t>
            </a:fld>
            <a:endParaRPr lang="en-US"/>
          </a:p>
        </p:txBody>
      </p:sp>
    </p:spTree>
    <p:extLst>
      <p:ext uri="{BB962C8B-B14F-4D97-AF65-F5344CB8AC3E}">
        <p14:creationId xmlns:p14="http://schemas.microsoft.com/office/powerpoint/2010/main" val="2010870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41EDA-0A47-493A-9962-F8B3F3E09CE0}"/>
              </a:ext>
            </a:extLst>
          </p:cNvPr>
          <p:cNvSpPr>
            <a:spLocks noGrp="1"/>
          </p:cNvSpPr>
          <p:nvPr>
            <p:ph type="title"/>
          </p:nvPr>
        </p:nvSpPr>
        <p:spPr/>
        <p:txBody>
          <a:bodyPr/>
          <a:lstStyle/>
          <a:p>
            <a:r>
              <a:rPr lang="en-US" dirty="0"/>
              <a:t>OBSERVATION</a:t>
            </a:r>
          </a:p>
        </p:txBody>
      </p:sp>
      <p:sp>
        <p:nvSpPr>
          <p:cNvPr id="3" name="Content Placeholder 2">
            <a:extLst>
              <a:ext uri="{FF2B5EF4-FFF2-40B4-BE49-F238E27FC236}">
                <a16:creationId xmlns:a16="http://schemas.microsoft.com/office/drawing/2014/main" id="{06232EE1-E665-4B00-8AC8-37888F15D53A}"/>
              </a:ext>
            </a:extLst>
          </p:cNvPr>
          <p:cNvSpPr>
            <a:spLocks noGrp="1"/>
          </p:cNvSpPr>
          <p:nvPr>
            <p:ph idx="1"/>
          </p:nvPr>
        </p:nvSpPr>
        <p:spPr/>
        <p:txBody>
          <a:bodyPr>
            <a:normAutofit fontScale="92500" lnSpcReduction="20000"/>
          </a:bodyPr>
          <a:lstStyle/>
          <a:p>
            <a:r>
              <a:rPr lang="en-US" b="0" i="0" dirty="0">
                <a:effectLst/>
                <a:latin typeface="quote-cjk-patch"/>
              </a:rPr>
              <a:t>XGBoost is </a:t>
            </a:r>
            <a:r>
              <a:rPr lang="en-US" b="1" i="0" dirty="0">
                <a:effectLst/>
                <a:latin typeface="quote-cjk-patch"/>
              </a:rPr>
              <a:t>very fast</a:t>
            </a:r>
            <a:r>
              <a:rPr lang="en-US" b="0" i="0" dirty="0">
                <a:effectLst/>
                <a:latin typeface="quote-cjk-patch"/>
              </a:rPr>
              <a:t> (8.8 seconds on 400k samples) and achieves high overall accuracy (92%).</a:t>
            </a:r>
          </a:p>
          <a:p>
            <a:r>
              <a:rPr lang="en-US" b="0" i="0" dirty="0">
                <a:effectLst/>
                <a:latin typeface="quote-cjk-patch"/>
              </a:rPr>
              <a:t>It performs </a:t>
            </a:r>
            <a:r>
              <a:rPr lang="en-US" b="1" i="0" dirty="0">
                <a:effectLst/>
                <a:latin typeface="quote-cjk-patch"/>
              </a:rPr>
              <a:t>excellently on the majority class</a:t>
            </a:r>
            <a:r>
              <a:rPr lang="en-US" b="0" i="0" dirty="0">
                <a:effectLst/>
                <a:latin typeface="quote-cjk-patch"/>
              </a:rPr>
              <a:t> (No Internet) – recall 0.97.</a:t>
            </a:r>
          </a:p>
          <a:p>
            <a:r>
              <a:rPr lang="en-US" b="0" i="0" dirty="0">
                <a:effectLst/>
                <a:latin typeface="quote-cjk-patch"/>
              </a:rPr>
              <a:t>The minority class (Has Internet) has </a:t>
            </a:r>
            <a:r>
              <a:rPr lang="en-US" b="1" i="0" dirty="0">
                <a:effectLst/>
                <a:latin typeface="quote-cjk-patch"/>
              </a:rPr>
              <a:t>lower recall (0.53)</a:t>
            </a:r>
            <a:r>
              <a:rPr lang="en-US" b="0" i="0" dirty="0">
                <a:effectLst/>
                <a:latin typeface="quote-cjk-patch"/>
              </a:rPr>
              <a:t> – the model misses about 47% of actual internet users</a:t>
            </a:r>
          </a:p>
          <a:p>
            <a:pPr algn="l">
              <a:buFont typeface="Arial" panose="020B0604020202020204" pitchFamily="34" charset="0"/>
              <a:buChar char="•"/>
            </a:pPr>
            <a:r>
              <a:rPr lang="en-US" b="0" i="0" dirty="0">
                <a:effectLst/>
                <a:latin typeface="quote-cjk-patch"/>
              </a:rPr>
              <a:t>This reflects the </a:t>
            </a:r>
            <a:r>
              <a:rPr lang="en-US" b="1" i="0" dirty="0">
                <a:effectLst/>
                <a:latin typeface="quote-cjk-patch"/>
              </a:rPr>
              <a:t>class imbalance</a:t>
            </a:r>
            <a:r>
              <a:rPr lang="en-US" b="0" i="0" dirty="0">
                <a:effectLst/>
                <a:latin typeface="quote-cjk-patch"/>
              </a:rPr>
              <a:t> in the original data (not SMOTE‑balanced here).</a:t>
            </a:r>
          </a:p>
          <a:p>
            <a:r>
              <a:rPr lang="en-US" b="0" i="0" dirty="0">
                <a:effectLst/>
                <a:latin typeface="quote-cjk-patch"/>
              </a:rPr>
              <a:t>Feature importance (top predictors) aligns with earlier findings </a:t>
            </a:r>
            <a:r>
              <a:rPr lang="en-US" b="0" i="0" dirty="0" err="1">
                <a:effectLst/>
                <a:latin typeface="Menlo"/>
              </a:rPr>
              <a:t>rururb</a:t>
            </a:r>
            <a:r>
              <a:rPr lang="en-US" b="0" i="0" dirty="0">
                <a:effectLst/>
                <a:latin typeface="Menlo"/>
              </a:rPr>
              <a:t>, Phone ,computer</a:t>
            </a:r>
            <a:br>
              <a:rPr lang="en-US" dirty="0"/>
            </a:br>
            <a:r>
              <a:rPr lang="en-US" b="0" i="0" dirty="0">
                <a:effectLst/>
                <a:latin typeface="quote-cjk-patch"/>
              </a:rPr>
              <a:t>XGBoost remains a top contender for speed and overall accuracy</a:t>
            </a:r>
            <a:endParaRPr lang="en-US" dirty="0"/>
          </a:p>
        </p:txBody>
      </p:sp>
      <p:sp>
        <p:nvSpPr>
          <p:cNvPr id="4" name="Slide Number Placeholder 3">
            <a:extLst>
              <a:ext uri="{FF2B5EF4-FFF2-40B4-BE49-F238E27FC236}">
                <a16:creationId xmlns:a16="http://schemas.microsoft.com/office/drawing/2014/main" id="{7D22B816-E722-4916-8B1D-F5F2A8014581}"/>
              </a:ext>
            </a:extLst>
          </p:cNvPr>
          <p:cNvSpPr>
            <a:spLocks noGrp="1"/>
          </p:cNvSpPr>
          <p:nvPr>
            <p:ph type="sldNum" sz="quarter" idx="12"/>
          </p:nvPr>
        </p:nvSpPr>
        <p:spPr/>
        <p:txBody>
          <a:bodyPr>
            <a:normAutofit/>
          </a:bodyPr>
          <a:lstStyle/>
          <a:p>
            <a:fld id="{0428C338-E682-4B46-9632-D57B5813D090}" type="slidenum">
              <a:rPr lang="en-US" smtClean="0"/>
              <a:t>38</a:t>
            </a:fld>
            <a:endParaRPr lang="en-US"/>
          </a:p>
        </p:txBody>
      </p:sp>
    </p:spTree>
    <p:extLst>
      <p:ext uri="{BB962C8B-B14F-4D97-AF65-F5344CB8AC3E}">
        <p14:creationId xmlns:p14="http://schemas.microsoft.com/office/powerpoint/2010/main" val="1141680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EDFB-5BC3-43B5-89AE-1A01D9F08646}"/>
              </a:ext>
            </a:extLst>
          </p:cNvPr>
          <p:cNvSpPr>
            <a:spLocks noGrp="1"/>
          </p:cNvSpPr>
          <p:nvPr>
            <p:ph type="title"/>
          </p:nvPr>
        </p:nvSpPr>
        <p:spPr>
          <a:xfrm>
            <a:off x="1484311" y="685801"/>
            <a:ext cx="10018713" cy="1158766"/>
          </a:xfrm>
        </p:spPr>
        <p:txBody>
          <a:bodyPr>
            <a:normAutofit fontScale="90000"/>
          </a:bodyPr>
          <a:lstStyle/>
          <a:p>
            <a:pPr algn="l"/>
            <a:r>
              <a:rPr lang="en-US" b="1" dirty="0">
                <a:solidFill>
                  <a:schemeClr val="tx1"/>
                </a:solidFill>
                <a:effectLst/>
                <a:latin typeface="quote-cjk-patch"/>
              </a:rPr>
              <a:t>LIGHTGBM LIGHT GRADIENT BOOSTING MACHINE</a:t>
            </a:r>
          </a:p>
        </p:txBody>
      </p:sp>
      <p:sp>
        <p:nvSpPr>
          <p:cNvPr id="3" name="Content Placeholder 2">
            <a:extLst>
              <a:ext uri="{FF2B5EF4-FFF2-40B4-BE49-F238E27FC236}">
                <a16:creationId xmlns:a16="http://schemas.microsoft.com/office/drawing/2014/main" id="{80F542C9-A333-4FF4-99D2-A46E326F3A31}"/>
              </a:ext>
            </a:extLst>
          </p:cNvPr>
          <p:cNvSpPr>
            <a:spLocks noGrp="1"/>
          </p:cNvSpPr>
          <p:nvPr>
            <p:ph idx="1"/>
          </p:nvPr>
        </p:nvSpPr>
        <p:spPr>
          <a:xfrm>
            <a:off x="1024128" y="1844566"/>
            <a:ext cx="9720071" cy="4464794"/>
          </a:xfrm>
        </p:spPr>
        <p:txBody>
          <a:bodyPr/>
          <a:lstStyle/>
          <a:p>
            <a:r>
              <a:rPr lang="en-US" b="1" dirty="0">
                <a:effectLst/>
                <a:latin typeface="quote-cjk-patch"/>
              </a:rPr>
              <a:t>Architecture</a:t>
            </a:r>
          </a:p>
          <a:p>
            <a:r>
              <a:rPr lang="en-US" b="1" i="0" dirty="0">
                <a:effectLst/>
                <a:latin typeface="quote-cjk-patch"/>
              </a:rPr>
              <a:t>Type:</a:t>
            </a:r>
            <a:r>
              <a:rPr lang="en-US" b="0" i="0" dirty="0">
                <a:effectLst/>
                <a:latin typeface="quote-cjk-patch"/>
              </a:rPr>
              <a:t> Gradient boosting framework using </a:t>
            </a:r>
            <a:r>
              <a:rPr lang="en-US" b="1" i="0" dirty="0">
                <a:effectLst/>
                <a:latin typeface="quote-cjk-patch"/>
              </a:rPr>
              <a:t>leaf‑wise</a:t>
            </a:r>
            <a:r>
              <a:rPr lang="en-US" b="0" i="0" dirty="0">
                <a:effectLst/>
                <a:latin typeface="quote-cjk-patch"/>
              </a:rPr>
              <a:t> tree growth</a:t>
            </a:r>
          </a:p>
          <a:p>
            <a:r>
              <a:rPr lang="en-US" b="1" i="0" dirty="0">
                <a:effectLst/>
                <a:latin typeface="quote-cjk-patch"/>
              </a:rPr>
              <a:t>Boosting rounds:</a:t>
            </a:r>
            <a:r>
              <a:rPr lang="en-US" b="0" i="0" dirty="0">
                <a:effectLst/>
                <a:latin typeface="quote-cjk-patch"/>
              </a:rPr>
              <a:t> 100 trees</a:t>
            </a:r>
          </a:p>
          <a:p>
            <a:r>
              <a:rPr lang="en-US" b="1" i="0" dirty="0">
                <a:effectLst/>
                <a:latin typeface="quote-cjk-patch"/>
              </a:rPr>
              <a:t>Max depth:</a:t>
            </a:r>
            <a:r>
              <a:rPr lang="en-US" b="0" i="0" dirty="0">
                <a:effectLst/>
                <a:latin typeface="quote-cjk-patch"/>
              </a:rPr>
              <a:t> 3 (shallow trees, typical for boosting)</a:t>
            </a:r>
          </a:p>
          <a:p>
            <a:r>
              <a:rPr lang="en-US" b="1" i="0" dirty="0">
                <a:effectLst/>
                <a:latin typeface="quote-cjk-patch"/>
              </a:rPr>
              <a:t>Learning rate:</a:t>
            </a:r>
            <a:r>
              <a:rPr lang="en-US" b="0" i="0" dirty="0">
                <a:effectLst/>
                <a:latin typeface="quote-cjk-patch"/>
              </a:rPr>
              <a:t> 0.1</a:t>
            </a:r>
          </a:p>
          <a:p>
            <a:r>
              <a:rPr lang="en-US" b="1" i="0" dirty="0">
                <a:effectLst/>
                <a:latin typeface="quote-cjk-patch"/>
              </a:rPr>
              <a:t>Subsampling:</a:t>
            </a:r>
            <a:r>
              <a:rPr lang="en-US" b="0" i="0" dirty="0">
                <a:effectLst/>
                <a:latin typeface="quote-cjk-patch"/>
              </a:rPr>
              <a:t> 80% of data per iteration</a:t>
            </a:r>
          </a:p>
          <a:p>
            <a:r>
              <a:rPr lang="en-US" b="1" i="0" dirty="0">
                <a:effectLst/>
                <a:latin typeface="quote-cjk-patch"/>
              </a:rPr>
              <a:t>Growth strategy:</a:t>
            </a:r>
            <a:r>
              <a:rPr lang="en-US" b="0" i="0" dirty="0">
                <a:effectLst/>
                <a:latin typeface="quote-cjk-patch"/>
              </a:rPr>
              <a:t> Leaf‑wise with depth limitation – faster convergence and lower memory usage</a:t>
            </a:r>
          </a:p>
          <a:p>
            <a:endParaRPr lang="en-US" dirty="0"/>
          </a:p>
        </p:txBody>
      </p:sp>
      <p:sp>
        <p:nvSpPr>
          <p:cNvPr id="4" name="Slide Number Placeholder 3">
            <a:extLst>
              <a:ext uri="{FF2B5EF4-FFF2-40B4-BE49-F238E27FC236}">
                <a16:creationId xmlns:a16="http://schemas.microsoft.com/office/drawing/2014/main" id="{21F481EC-C151-4500-9308-9351936D3A72}"/>
              </a:ext>
            </a:extLst>
          </p:cNvPr>
          <p:cNvSpPr>
            <a:spLocks noGrp="1"/>
          </p:cNvSpPr>
          <p:nvPr>
            <p:ph type="sldNum" sz="quarter" idx="12"/>
          </p:nvPr>
        </p:nvSpPr>
        <p:spPr/>
        <p:txBody>
          <a:bodyPr>
            <a:normAutofit/>
          </a:bodyPr>
          <a:lstStyle/>
          <a:p>
            <a:fld id="{0428C338-E682-4B46-9632-D57B5813D090}" type="slidenum">
              <a:rPr lang="en-US" smtClean="0"/>
              <a:t>39</a:t>
            </a:fld>
            <a:endParaRPr lang="en-US"/>
          </a:p>
        </p:txBody>
      </p:sp>
    </p:spTree>
    <p:extLst>
      <p:ext uri="{BB962C8B-B14F-4D97-AF65-F5344CB8AC3E}">
        <p14:creationId xmlns:p14="http://schemas.microsoft.com/office/powerpoint/2010/main" val="2759943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74322-9255-4FF4-A5E8-662E334AD3C4}"/>
              </a:ext>
            </a:extLst>
          </p:cNvPr>
          <p:cNvSpPr>
            <a:spLocks noGrp="1"/>
          </p:cNvSpPr>
          <p:nvPr>
            <p:ph type="title"/>
          </p:nvPr>
        </p:nvSpPr>
        <p:spPr>
          <a:xfrm>
            <a:off x="1484311" y="685801"/>
            <a:ext cx="10018713" cy="1045890"/>
          </a:xfrm>
        </p:spPr>
        <p:txBody>
          <a:bodyPr/>
          <a:lstStyle/>
          <a:p>
            <a:r>
              <a:rPr lang="en-US" dirty="0"/>
              <a:t>TRAINING THE MODEL </a:t>
            </a:r>
          </a:p>
        </p:txBody>
      </p:sp>
      <p:sp>
        <p:nvSpPr>
          <p:cNvPr id="3" name="Content Placeholder 2">
            <a:extLst>
              <a:ext uri="{FF2B5EF4-FFF2-40B4-BE49-F238E27FC236}">
                <a16:creationId xmlns:a16="http://schemas.microsoft.com/office/drawing/2014/main" id="{C889291C-5CE9-4752-AD6E-D8175D9CEEFC}"/>
              </a:ext>
            </a:extLst>
          </p:cNvPr>
          <p:cNvSpPr>
            <a:spLocks noGrp="1"/>
          </p:cNvSpPr>
          <p:nvPr>
            <p:ph idx="1"/>
          </p:nvPr>
        </p:nvSpPr>
        <p:spPr>
          <a:xfrm>
            <a:off x="1484310" y="2666999"/>
            <a:ext cx="10018713" cy="4080642"/>
          </a:xfrm>
        </p:spPr>
        <p:txBody>
          <a:bodyPr>
            <a:normAutofit fontScale="92500"/>
          </a:bodyPr>
          <a:lstStyle/>
          <a:p>
            <a:pPr marL="0" indent="0">
              <a:buNone/>
            </a:pPr>
            <a:endParaRPr lang="en-US" b="1" i="0" dirty="0">
              <a:effectLst/>
              <a:latin typeface="quote-cjk-patch"/>
            </a:endParaRPr>
          </a:p>
          <a:p>
            <a:pPr marL="0" indent="0">
              <a:buNone/>
            </a:pPr>
            <a:endParaRPr lang="en-US" b="1" dirty="0">
              <a:latin typeface="quote-cjk-patch"/>
            </a:endParaRPr>
          </a:p>
          <a:p>
            <a:pPr marL="0" indent="0">
              <a:buNone/>
            </a:pPr>
            <a:endParaRPr lang="en-US" b="1" i="0" dirty="0">
              <a:effectLst/>
              <a:latin typeface="quote-cjk-patch"/>
            </a:endParaRPr>
          </a:p>
          <a:p>
            <a:pPr marL="0" indent="0">
              <a:buNone/>
            </a:pPr>
            <a:endParaRPr lang="en-US" b="1" dirty="0">
              <a:latin typeface="quote-cjk-patch"/>
            </a:endParaRPr>
          </a:p>
          <a:p>
            <a:pPr marL="0" indent="0">
              <a:buNone/>
            </a:pPr>
            <a:endParaRPr lang="en-US" b="1" i="0" dirty="0">
              <a:effectLst/>
              <a:latin typeface="quote-cjk-patch"/>
            </a:endParaRPr>
          </a:p>
          <a:p>
            <a:pPr marL="0" indent="0">
              <a:buNone/>
            </a:pPr>
            <a:endParaRPr lang="en-US" b="1" dirty="0">
              <a:latin typeface="quote-cjk-patch"/>
            </a:endParaRPr>
          </a:p>
          <a:p>
            <a:pPr marL="0" indent="0">
              <a:buNone/>
            </a:pPr>
            <a:endParaRPr lang="en-US" b="1" i="0" dirty="0">
              <a:effectLst/>
              <a:latin typeface="quote-cjk-patch"/>
            </a:endParaRPr>
          </a:p>
          <a:p>
            <a:pPr marL="0" indent="0">
              <a:buNone/>
            </a:pPr>
            <a:r>
              <a:rPr lang="en-US" b="1" i="0" dirty="0">
                <a:effectLst/>
                <a:latin typeface="quote-cjk-patch"/>
              </a:rPr>
              <a:t>Data:</a:t>
            </a:r>
            <a:r>
              <a:rPr lang="en-US" b="0" i="0" dirty="0">
                <a:effectLst/>
                <a:latin typeface="quote-cjk-patch"/>
              </a:rPr>
              <a:t> 400,000 training samples, 100,000 test samples (original imbalanced classes)</a:t>
            </a:r>
          </a:p>
          <a:p>
            <a:endParaRPr lang="en-US" dirty="0"/>
          </a:p>
        </p:txBody>
      </p:sp>
      <p:sp>
        <p:nvSpPr>
          <p:cNvPr id="4" name="Slide Number Placeholder 3">
            <a:extLst>
              <a:ext uri="{FF2B5EF4-FFF2-40B4-BE49-F238E27FC236}">
                <a16:creationId xmlns:a16="http://schemas.microsoft.com/office/drawing/2014/main" id="{16D73925-AB7A-40B9-AAEF-C858D8921F52}"/>
              </a:ext>
            </a:extLst>
          </p:cNvPr>
          <p:cNvSpPr>
            <a:spLocks noGrp="1"/>
          </p:cNvSpPr>
          <p:nvPr>
            <p:ph type="sldNum" sz="quarter" idx="12"/>
          </p:nvPr>
        </p:nvSpPr>
        <p:spPr/>
        <p:txBody>
          <a:bodyPr>
            <a:normAutofit/>
          </a:bodyPr>
          <a:lstStyle/>
          <a:p>
            <a:fld id="{0428C338-E682-4B46-9632-D57B5813D090}" type="slidenum">
              <a:rPr lang="en-US" smtClean="0"/>
              <a:t>40</a:t>
            </a:fld>
            <a:endParaRPr lang="en-US"/>
          </a:p>
        </p:txBody>
      </p:sp>
      <p:pic>
        <p:nvPicPr>
          <p:cNvPr id="7" name="Picture 6">
            <a:extLst>
              <a:ext uri="{FF2B5EF4-FFF2-40B4-BE49-F238E27FC236}">
                <a16:creationId xmlns:a16="http://schemas.microsoft.com/office/drawing/2014/main" id="{09F7124E-740E-4423-895A-3AAA600C782D}"/>
              </a:ext>
            </a:extLst>
          </p:cNvPr>
          <p:cNvPicPr>
            <a:picLocks noChangeAspect="1"/>
          </p:cNvPicPr>
          <p:nvPr/>
        </p:nvPicPr>
        <p:blipFill>
          <a:blip r:embed="rId2"/>
          <a:stretch>
            <a:fillRect/>
          </a:stretch>
        </p:blipFill>
        <p:spPr>
          <a:xfrm>
            <a:off x="1024128" y="2096815"/>
            <a:ext cx="10721182" cy="3770316"/>
          </a:xfrm>
          <a:prstGeom prst="rect">
            <a:avLst/>
          </a:prstGeom>
        </p:spPr>
      </p:pic>
    </p:spTree>
    <p:extLst>
      <p:ext uri="{BB962C8B-B14F-4D97-AF65-F5344CB8AC3E}">
        <p14:creationId xmlns:p14="http://schemas.microsoft.com/office/powerpoint/2010/main" val="41226087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49B2-0147-44F6-8953-5E0F3A42F05C}"/>
              </a:ext>
            </a:extLst>
          </p:cNvPr>
          <p:cNvSpPr>
            <a:spLocks noGrp="1"/>
          </p:cNvSpPr>
          <p:nvPr>
            <p:ph type="title"/>
          </p:nvPr>
        </p:nvSpPr>
        <p:spPr/>
        <p:txBody>
          <a:bodyPr/>
          <a:lstStyle/>
          <a:p>
            <a:r>
              <a:rPr lang="en-US" dirty="0"/>
              <a:t>OBSERVATION</a:t>
            </a:r>
          </a:p>
        </p:txBody>
      </p:sp>
      <p:sp>
        <p:nvSpPr>
          <p:cNvPr id="3" name="Content Placeholder 2">
            <a:extLst>
              <a:ext uri="{FF2B5EF4-FFF2-40B4-BE49-F238E27FC236}">
                <a16:creationId xmlns:a16="http://schemas.microsoft.com/office/drawing/2014/main" id="{5B09C48E-777A-4CF8-8CEE-188AC1B6A0D6}"/>
              </a:ext>
            </a:extLst>
          </p:cNvPr>
          <p:cNvSpPr>
            <a:spLocks noGrp="1"/>
          </p:cNvSpPr>
          <p:nvPr>
            <p:ph idx="1"/>
          </p:nvPr>
        </p:nvSpPr>
        <p:spPr/>
        <p:txBody>
          <a:bodyPr>
            <a:normAutofit fontScale="92500" lnSpcReduction="10000"/>
          </a:bodyPr>
          <a:lstStyle/>
          <a:p>
            <a:r>
              <a:rPr lang="en-US" b="0" i="0" dirty="0">
                <a:effectLst/>
                <a:latin typeface="quote-cjk-patch"/>
              </a:rPr>
              <a:t>LightGBM is </a:t>
            </a:r>
            <a:r>
              <a:rPr lang="en-US" b="1" i="0" dirty="0">
                <a:effectLst/>
                <a:latin typeface="quote-cjk-patch"/>
              </a:rPr>
              <a:t>extremely fast</a:t>
            </a:r>
            <a:r>
              <a:rPr lang="en-US" b="0" i="0" dirty="0">
                <a:effectLst/>
                <a:latin typeface="quote-cjk-patch"/>
              </a:rPr>
              <a:t> (5.2 seconds on 400k samples) slightly faster than Xgboost.</a:t>
            </a:r>
          </a:p>
          <a:p>
            <a:r>
              <a:rPr lang="en-US" b="0" i="0" dirty="0">
                <a:effectLst/>
                <a:latin typeface="quote-cjk-patch"/>
              </a:rPr>
              <a:t>Overall accuracy (92%) and ROC‑AUC (0.932) are nearly identical to XGBoost.</a:t>
            </a:r>
          </a:p>
          <a:p>
            <a:r>
              <a:rPr lang="en-US" b="0" i="0" dirty="0">
                <a:effectLst/>
                <a:latin typeface="quote-cjk-patch"/>
              </a:rPr>
              <a:t>Performance on the </a:t>
            </a:r>
            <a:r>
              <a:rPr lang="en-US" b="1" i="0" dirty="0">
                <a:effectLst/>
                <a:latin typeface="quote-cjk-patch"/>
              </a:rPr>
              <a:t>majority class</a:t>
            </a:r>
            <a:r>
              <a:rPr lang="en-US" b="0" i="0" dirty="0">
                <a:effectLst/>
                <a:latin typeface="quote-cjk-patch"/>
              </a:rPr>
              <a:t> (No Internet) is excellent recall 0.97.</a:t>
            </a:r>
          </a:p>
          <a:p>
            <a:r>
              <a:rPr lang="en-US" b="0" i="0" dirty="0">
                <a:effectLst/>
                <a:latin typeface="quote-cjk-patch"/>
              </a:rPr>
              <a:t>The </a:t>
            </a:r>
            <a:r>
              <a:rPr lang="en-US" b="1" i="0" dirty="0">
                <a:effectLst/>
                <a:latin typeface="quote-cjk-patch"/>
              </a:rPr>
              <a:t>minority class</a:t>
            </a:r>
            <a:r>
              <a:rPr lang="en-US" b="0" i="0" dirty="0">
                <a:effectLst/>
                <a:latin typeface="quote-cjk-patch"/>
              </a:rPr>
              <a:t> (Has Internet) again shows lower recall (0.52) about 48% of actual internet users are missed, a direct consequence of class imbalance.</a:t>
            </a:r>
          </a:p>
          <a:p>
            <a:r>
              <a:rPr lang="en-US" b="0" i="0" dirty="0">
                <a:effectLst/>
                <a:latin typeface="quote-cjk-patch"/>
              </a:rPr>
              <a:t>Feature importance (not shown but similar to XGBoost) highlights phone ,</a:t>
            </a:r>
            <a:r>
              <a:rPr lang="en-US" b="0" i="0" dirty="0">
                <a:effectLst/>
                <a:latin typeface="Menlo"/>
              </a:rPr>
              <a:t> </a:t>
            </a:r>
            <a:r>
              <a:rPr lang="en-US" b="0" i="0" dirty="0" err="1">
                <a:effectLst/>
                <a:latin typeface="Menlo"/>
              </a:rPr>
              <a:t>rururb</a:t>
            </a:r>
            <a:r>
              <a:rPr lang="en-US" b="0" i="0" dirty="0" err="1">
                <a:effectLst/>
                <a:latin typeface="quote-cjk-patch"/>
              </a:rPr>
              <a:t>,computer</a:t>
            </a:r>
            <a:r>
              <a:rPr lang="en-US" b="0" i="0" dirty="0">
                <a:effectLst/>
                <a:latin typeface="quote-cjk-patch"/>
              </a:rPr>
              <a:t> education variables as top predictors</a:t>
            </a:r>
            <a:endParaRPr lang="en-US" dirty="0"/>
          </a:p>
        </p:txBody>
      </p:sp>
      <p:sp>
        <p:nvSpPr>
          <p:cNvPr id="4" name="Slide Number Placeholder 3">
            <a:extLst>
              <a:ext uri="{FF2B5EF4-FFF2-40B4-BE49-F238E27FC236}">
                <a16:creationId xmlns:a16="http://schemas.microsoft.com/office/drawing/2014/main" id="{98B30739-1F63-43D3-972B-A88CBDE93DB1}"/>
              </a:ext>
            </a:extLst>
          </p:cNvPr>
          <p:cNvSpPr>
            <a:spLocks noGrp="1"/>
          </p:cNvSpPr>
          <p:nvPr>
            <p:ph type="sldNum" sz="quarter" idx="12"/>
          </p:nvPr>
        </p:nvSpPr>
        <p:spPr/>
        <p:txBody>
          <a:bodyPr>
            <a:normAutofit/>
          </a:bodyPr>
          <a:lstStyle/>
          <a:p>
            <a:fld id="{0428C338-E682-4B46-9632-D57B5813D090}" type="slidenum">
              <a:rPr lang="en-US" smtClean="0"/>
              <a:t>41</a:t>
            </a:fld>
            <a:endParaRPr lang="en-US"/>
          </a:p>
        </p:txBody>
      </p:sp>
    </p:spTree>
    <p:extLst>
      <p:ext uri="{BB962C8B-B14F-4D97-AF65-F5344CB8AC3E}">
        <p14:creationId xmlns:p14="http://schemas.microsoft.com/office/powerpoint/2010/main" val="2081649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10A3-9F34-4410-BD0B-DBF65100A75C}"/>
              </a:ext>
            </a:extLst>
          </p:cNvPr>
          <p:cNvSpPr>
            <a:spLocks noGrp="1"/>
          </p:cNvSpPr>
          <p:nvPr>
            <p:ph type="title"/>
          </p:nvPr>
        </p:nvSpPr>
        <p:spPr>
          <a:xfrm>
            <a:off x="1484311" y="685800"/>
            <a:ext cx="10018713" cy="1363717"/>
          </a:xfrm>
        </p:spPr>
        <p:txBody>
          <a:bodyPr/>
          <a:lstStyle/>
          <a:p>
            <a:r>
              <a:rPr lang="en-US" dirty="0"/>
              <a:t>FEATURE PERFORMANCE</a:t>
            </a:r>
          </a:p>
        </p:txBody>
      </p:sp>
      <p:pic>
        <p:nvPicPr>
          <p:cNvPr id="6" name="Content Placeholder 5">
            <a:extLst>
              <a:ext uri="{FF2B5EF4-FFF2-40B4-BE49-F238E27FC236}">
                <a16:creationId xmlns:a16="http://schemas.microsoft.com/office/drawing/2014/main" id="{D62EE804-81B0-4291-A5AA-95D56EA1B6A2}"/>
              </a:ext>
            </a:extLst>
          </p:cNvPr>
          <p:cNvPicPr>
            <a:picLocks noGrp="1" noChangeAspect="1"/>
          </p:cNvPicPr>
          <p:nvPr>
            <p:ph idx="1"/>
          </p:nvPr>
        </p:nvPicPr>
        <p:blipFill>
          <a:blip r:embed="rId2"/>
          <a:stretch>
            <a:fillRect/>
          </a:stretch>
        </p:blipFill>
        <p:spPr>
          <a:xfrm>
            <a:off x="1371601" y="2049517"/>
            <a:ext cx="10373710" cy="4619297"/>
          </a:xfrm>
        </p:spPr>
      </p:pic>
      <p:sp>
        <p:nvSpPr>
          <p:cNvPr id="4" name="Slide Number Placeholder 3">
            <a:extLst>
              <a:ext uri="{FF2B5EF4-FFF2-40B4-BE49-F238E27FC236}">
                <a16:creationId xmlns:a16="http://schemas.microsoft.com/office/drawing/2014/main" id="{A90AF766-49F3-4E8E-B02C-DE2056438F5A}"/>
              </a:ext>
            </a:extLst>
          </p:cNvPr>
          <p:cNvSpPr>
            <a:spLocks noGrp="1"/>
          </p:cNvSpPr>
          <p:nvPr>
            <p:ph type="sldNum" sz="quarter" idx="12"/>
          </p:nvPr>
        </p:nvSpPr>
        <p:spPr/>
        <p:txBody>
          <a:bodyPr>
            <a:normAutofit/>
          </a:bodyPr>
          <a:lstStyle/>
          <a:p>
            <a:fld id="{0428C338-E682-4B46-9632-D57B5813D090}" type="slidenum">
              <a:rPr lang="en-US" smtClean="0"/>
              <a:t>42</a:t>
            </a:fld>
            <a:endParaRPr lang="en-US"/>
          </a:p>
        </p:txBody>
      </p:sp>
    </p:spTree>
    <p:extLst>
      <p:ext uri="{BB962C8B-B14F-4D97-AF65-F5344CB8AC3E}">
        <p14:creationId xmlns:p14="http://schemas.microsoft.com/office/powerpoint/2010/main" val="3902086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301EF-AF56-4CE7-9757-0E39156579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A371C1-E035-4504-8054-F02E24B4CEA9}"/>
              </a:ext>
            </a:extLst>
          </p:cNvPr>
          <p:cNvSpPr>
            <a:spLocks noGrp="1"/>
          </p:cNvSpPr>
          <p:nvPr>
            <p:ph idx="1"/>
          </p:nvPr>
        </p:nvSpPr>
        <p:spPr/>
        <p:txBody>
          <a:bodyPr/>
          <a:lstStyle/>
          <a:p>
            <a:r>
              <a:rPr lang="en-US" b="0" i="0" dirty="0">
                <a:effectLst/>
                <a:latin typeface="quote-cjk-patch"/>
              </a:rPr>
              <a:t>LightGBM offers a compelling trade‑off: speed comparable to XGBoost with equally strong overall metrics, making it suitable for large‑scale deployment. For better minority‑class detection, imbalance handling (SMOTE or class weighting) would be necessary</a:t>
            </a:r>
            <a:endParaRPr lang="en-US" dirty="0"/>
          </a:p>
        </p:txBody>
      </p:sp>
      <p:sp>
        <p:nvSpPr>
          <p:cNvPr id="4" name="Slide Number Placeholder 3">
            <a:extLst>
              <a:ext uri="{FF2B5EF4-FFF2-40B4-BE49-F238E27FC236}">
                <a16:creationId xmlns:a16="http://schemas.microsoft.com/office/drawing/2014/main" id="{7C180675-C6FC-4C80-9410-83FFD07B0222}"/>
              </a:ext>
            </a:extLst>
          </p:cNvPr>
          <p:cNvSpPr>
            <a:spLocks noGrp="1"/>
          </p:cNvSpPr>
          <p:nvPr>
            <p:ph type="sldNum" sz="quarter" idx="12"/>
          </p:nvPr>
        </p:nvSpPr>
        <p:spPr/>
        <p:txBody>
          <a:bodyPr>
            <a:normAutofit/>
          </a:bodyPr>
          <a:lstStyle/>
          <a:p>
            <a:fld id="{0428C338-E682-4B46-9632-D57B5813D090}" type="slidenum">
              <a:rPr lang="en-US" smtClean="0"/>
              <a:t>43</a:t>
            </a:fld>
            <a:endParaRPr lang="en-US"/>
          </a:p>
        </p:txBody>
      </p:sp>
    </p:spTree>
    <p:extLst>
      <p:ext uri="{BB962C8B-B14F-4D97-AF65-F5344CB8AC3E}">
        <p14:creationId xmlns:p14="http://schemas.microsoft.com/office/powerpoint/2010/main" val="1176912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8469-EE41-4DF1-9933-6483F1FA880E}"/>
              </a:ext>
            </a:extLst>
          </p:cNvPr>
          <p:cNvSpPr>
            <a:spLocks noGrp="1"/>
          </p:cNvSpPr>
          <p:nvPr>
            <p:ph type="title"/>
          </p:nvPr>
        </p:nvSpPr>
        <p:spPr/>
        <p:txBody>
          <a:bodyPr>
            <a:normAutofit/>
          </a:bodyPr>
          <a:lstStyle/>
          <a:p>
            <a:r>
              <a:rPr lang="en-US" b="1" dirty="0">
                <a:solidFill>
                  <a:schemeClr val="tx1"/>
                </a:solidFill>
                <a:effectLst/>
                <a:latin typeface="quote-cjk-patch"/>
              </a:rPr>
              <a:t>CATBOOST (CATEGORICAL BOOSTING)</a:t>
            </a:r>
            <a:br>
              <a:rPr lang="en-US" b="1" dirty="0">
                <a:solidFill>
                  <a:schemeClr val="tx1"/>
                </a:solidFill>
                <a:effectLst/>
                <a:latin typeface="quote-cjk-patch"/>
              </a:rPr>
            </a:br>
            <a:endParaRPr lang="en-US" dirty="0">
              <a:solidFill>
                <a:schemeClr val="tx1"/>
              </a:solidFill>
            </a:endParaRPr>
          </a:p>
        </p:txBody>
      </p:sp>
      <p:sp>
        <p:nvSpPr>
          <p:cNvPr id="3" name="Content Placeholder 2">
            <a:extLst>
              <a:ext uri="{FF2B5EF4-FFF2-40B4-BE49-F238E27FC236}">
                <a16:creationId xmlns:a16="http://schemas.microsoft.com/office/drawing/2014/main" id="{FA4D50C5-5935-4113-AA7D-9CDD68362B46}"/>
              </a:ext>
            </a:extLst>
          </p:cNvPr>
          <p:cNvSpPr>
            <a:spLocks noGrp="1"/>
          </p:cNvSpPr>
          <p:nvPr>
            <p:ph idx="1"/>
          </p:nvPr>
        </p:nvSpPr>
        <p:spPr/>
        <p:txBody>
          <a:bodyPr>
            <a:normAutofit fontScale="85000" lnSpcReduction="20000"/>
          </a:bodyPr>
          <a:lstStyle/>
          <a:p>
            <a:r>
              <a:rPr lang="en-US" b="1" dirty="0">
                <a:effectLst/>
                <a:latin typeface="quote-cjk-patch"/>
              </a:rPr>
              <a:t>Architecture</a:t>
            </a:r>
          </a:p>
          <a:p>
            <a:r>
              <a:rPr lang="en-US" b="1" i="0" dirty="0">
                <a:effectLst/>
                <a:latin typeface="quote-cjk-patch"/>
              </a:rPr>
              <a:t>Type:</a:t>
            </a:r>
            <a:r>
              <a:rPr lang="en-US" b="0" i="0" dirty="0">
                <a:effectLst/>
                <a:latin typeface="quote-cjk-patch"/>
              </a:rPr>
              <a:t> Gradient boosting with </a:t>
            </a:r>
            <a:r>
              <a:rPr lang="en-US" b="1" i="0" dirty="0">
                <a:effectLst/>
                <a:latin typeface="quote-cjk-patch"/>
              </a:rPr>
              <a:t>oblivious trees</a:t>
            </a:r>
            <a:r>
              <a:rPr lang="en-US" b="0" i="0" dirty="0">
                <a:effectLst/>
                <a:latin typeface="quote-cjk-patch"/>
              </a:rPr>
              <a:t> (symmetric trees)</a:t>
            </a:r>
          </a:p>
          <a:p>
            <a:r>
              <a:rPr lang="en-US" b="1" i="0" dirty="0">
                <a:effectLst/>
                <a:latin typeface="quote-cjk-patch"/>
              </a:rPr>
              <a:t>Boosting rounds:</a:t>
            </a:r>
            <a:r>
              <a:rPr lang="en-US" b="0" i="0" dirty="0">
                <a:effectLst/>
                <a:latin typeface="quote-cjk-patch"/>
              </a:rPr>
              <a:t> 100 trees</a:t>
            </a:r>
          </a:p>
          <a:p>
            <a:r>
              <a:rPr lang="en-US" b="1" i="0" dirty="0">
                <a:effectLst/>
                <a:latin typeface="quote-cjk-patch"/>
              </a:rPr>
              <a:t>Tree depth:</a:t>
            </a:r>
            <a:r>
              <a:rPr lang="en-US" b="0" i="0" dirty="0">
                <a:effectLst/>
                <a:latin typeface="quote-cjk-patch"/>
              </a:rPr>
              <a:t> 3</a:t>
            </a:r>
          </a:p>
          <a:p>
            <a:r>
              <a:rPr lang="en-US" b="1" i="0" dirty="0">
                <a:effectLst/>
                <a:latin typeface="quote-cjk-patch"/>
              </a:rPr>
              <a:t>Learning rate:</a:t>
            </a:r>
            <a:r>
              <a:rPr lang="en-US" b="0" i="0" dirty="0">
                <a:effectLst/>
                <a:latin typeface="quote-cjk-patch"/>
              </a:rPr>
              <a:t> 0.1</a:t>
            </a:r>
          </a:p>
          <a:p>
            <a:r>
              <a:rPr lang="en-US" b="1" i="0" dirty="0">
                <a:effectLst/>
                <a:latin typeface="quote-cjk-patch"/>
              </a:rPr>
              <a:t>Handling categorical features:</a:t>
            </a:r>
            <a:r>
              <a:rPr lang="en-US" b="0" i="0" dirty="0">
                <a:effectLst/>
                <a:latin typeface="quote-cjk-patch"/>
              </a:rPr>
              <a:t> Native support (though our data is pre‑encoded)</a:t>
            </a:r>
          </a:p>
          <a:p>
            <a:r>
              <a:rPr lang="en-US" b="0" i="0" dirty="0">
                <a:effectLst/>
                <a:latin typeface="quote-cjk-patch"/>
              </a:rPr>
              <a:t>CatBoost builds trees sequentially, each new tree aiming to reduce the residual errors. Its symmetric tree structure and ordered boosting help reduce overfitting and provide robust performance.</a:t>
            </a:r>
            <a:endParaRPr lang="en-US" dirty="0"/>
          </a:p>
        </p:txBody>
      </p:sp>
      <p:sp>
        <p:nvSpPr>
          <p:cNvPr id="4" name="Slide Number Placeholder 3">
            <a:extLst>
              <a:ext uri="{FF2B5EF4-FFF2-40B4-BE49-F238E27FC236}">
                <a16:creationId xmlns:a16="http://schemas.microsoft.com/office/drawing/2014/main" id="{81358F53-1190-4C30-AEE3-E8B377155CED}"/>
              </a:ext>
            </a:extLst>
          </p:cNvPr>
          <p:cNvSpPr>
            <a:spLocks noGrp="1"/>
          </p:cNvSpPr>
          <p:nvPr>
            <p:ph type="sldNum" sz="quarter" idx="12"/>
          </p:nvPr>
        </p:nvSpPr>
        <p:spPr/>
        <p:txBody>
          <a:bodyPr>
            <a:normAutofit/>
          </a:bodyPr>
          <a:lstStyle/>
          <a:p>
            <a:fld id="{0428C338-E682-4B46-9632-D57B5813D090}" type="slidenum">
              <a:rPr lang="en-US" smtClean="0"/>
              <a:t>44</a:t>
            </a:fld>
            <a:endParaRPr lang="en-US"/>
          </a:p>
        </p:txBody>
      </p:sp>
    </p:spTree>
    <p:extLst>
      <p:ext uri="{BB962C8B-B14F-4D97-AF65-F5344CB8AC3E}">
        <p14:creationId xmlns:p14="http://schemas.microsoft.com/office/powerpoint/2010/main" val="24638461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B99A-0EBC-470E-8949-5E3C0EBD2F5B}"/>
              </a:ext>
            </a:extLst>
          </p:cNvPr>
          <p:cNvSpPr>
            <a:spLocks noGrp="1"/>
          </p:cNvSpPr>
          <p:nvPr>
            <p:ph type="title"/>
          </p:nvPr>
        </p:nvSpPr>
        <p:spPr/>
        <p:txBody>
          <a:bodyPr/>
          <a:lstStyle/>
          <a:p>
            <a:r>
              <a:rPr lang="en-US" dirty="0"/>
              <a:t>TRAINING THE MODEL</a:t>
            </a:r>
          </a:p>
        </p:txBody>
      </p:sp>
      <p:sp>
        <p:nvSpPr>
          <p:cNvPr id="3" name="Content Placeholder 2">
            <a:extLst>
              <a:ext uri="{FF2B5EF4-FFF2-40B4-BE49-F238E27FC236}">
                <a16:creationId xmlns:a16="http://schemas.microsoft.com/office/drawing/2014/main" id="{C1828B7E-B80F-4CA4-83CA-7931555FAA5C}"/>
              </a:ext>
            </a:extLst>
          </p:cNvPr>
          <p:cNvSpPr>
            <a:spLocks noGrp="1"/>
          </p:cNvSpPr>
          <p:nvPr>
            <p:ph idx="1"/>
          </p:nvPr>
        </p:nvSpPr>
        <p:spPr>
          <a:xfrm>
            <a:off x="1024128" y="2317531"/>
            <a:ext cx="9720071" cy="4023360"/>
          </a:xfrm>
        </p:spPr>
        <p:txBody>
          <a:bodyPr>
            <a:normAutofit fontScale="92500" lnSpcReduction="10000"/>
          </a:bodyPr>
          <a:lstStyle/>
          <a:p>
            <a:endParaRPr lang="en-US" b="1" i="0" dirty="0">
              <a:effectLst/>
              <a:latin typeface="quote-cjk-patch"/>
            </a:endParaRPr>
          </a:p>
          <a:p>
            <a:endParaRPr lang="en-US" b="1" dirty="0">
              <a:latin typeface="quote-cjk-patch"/>
            </a:endParaRPr>
          </a:p>
          <a:p>
            <a:endParaRPr lang="en-US" b="1" i="0" dirty="0">
              <a:effectLst/>
              <a:latin typeface="quote-cjk-patch"/>
            </a:endParaRPr>
          </a:p>
          <a:p>
            <a:endParaRPr lang="en-US" b="1" dirty="0">
              <a:latin typeface="quote-cjk-patch"/>
            </a:endParaRPr>
          </a:p>
          <a:p>
            <a:endParaRPr lang="en-US" b="1" i="0" dirty="0">
              <a:effectLst/>
              <a:latin typeface="quote-cjk-patch"/>
            </a:endParaRPr>
          </a:p>
          <a:p>
            <a:endParaRPr lang="en-US" b="1" dirty="0">
              <a:latin typeface="quote-cjk-patch"/>
            </a:endParaRPr>
          </a:p>
          <a:p>
            <a:endParaRPr lang="en-US" b="1" i="0" dirty="0">
              <a:effectLst/>
              <a:latin typeface="quote-cjk-patch"/>
            </a:endParaRPr>
          </a:p>
          <a:p>
            <a:r>
              <a:rPr lang="en-US" b="1" i="0" dirty="0">
                <a:effectLst/>
                <a:latin typeface="quote-cjk-patch"/>
              </a:rPr>
              <a:t>Data:</a:t>
            </a:r>
            <a:r>
              <a:rPr lang="en-US" b="0" i="0" dirty="0">
                <a:effectLst/>
                <a:latin typeface="quote-cjk-patch"/>
              </a:rPr>
              <a:t> 400,000 training samples, 100,000 test samples (original imbalanced classes)</a:t>
            </a:r>
          </a:p>
          <a:p>
            <a:endParaRPr lang="en-US" dirty="0"/>
          </a:p>
        </p:txBody>
      </p:sp>
      <p:sp>
        <p:nvSpPr>
          <p:cNvPr id="4" name="Slide Number Placeholder 3">
            <a:extLst>
              <a:ext uri="{FF2B5EF4-FFF2-40B4-BE49-F238E27FC236}">
                <a16:creationId xmlns:a16="http://schemas.microsoft.com/office/drawing/2014/main" id="{99DB373C-7A1E-42B5-B23B-FCEAC54731F7}"/>
              </a:ext>
            </a:extLst>
          </p:cNvPr>
          <p:cNvSpPr>
            <a:spLocks noGrp="1"/>
          </p:cNvSpPr>
          <p:nvPr>
            <p:ph type="sldNum" sz="quarter" idx="12"/>
          </p:nvPr>
        </p:nvSpPr>
        <p:spPr/>
        <p:txBody>
          <a:bodyPr>
            <a:normAutofit/>
          </a:bodyPr>
          <a:lstStyle/>
          <a:p>
            <a:fld id="{0428C338-E682-4B46-9632-D57B5813D090}" type="slidenum">
              <a:rPr lang="en-US" smtClean="0"/>
              <a:t>45</a:t>
            </a:fld>
            <a:endParaRPr lang="en-US"/>
          </a:p>
        </p:txBody>
      </p:sp>
      <p:pic>
        <p:nvPicPr>
          <p:cNvPr id="7" name="Picture 6">
            <a:extLst>
              <a:ext uri="{FF2B5EF4-FFF2-40B4-BE49-F238E27FC236}">
                <a16:creationId xmlns:a16="http://schemas.microsoft.com/office/drawing/2014/main" id="{0C5F8B5C-01B9-40F2-9318-4932F1E904F2}"/>
              </a:ext>
            </a:extLst>
          </p:cNvPr>
          <p:cNvPicPr>
            <a:picLocks noChangeAspect="1"/>
          </p:cNvPicPr>
          <p:nvPr/>
        </p:nvPicPr>
        <p:blipFill>
          <a:blip r:embed="rId2"/>
          <a:stretch>
            <a:fillRect/>
          </a:stretch>
        </p:blipFill>
        <p:spPr>
          <a:xfrm>
            <a:off x="819807" y="2438400"/>
            <a:ext cx="10683215" cy="2890346"/>
          </a:xfrm>
          <a:prstGeom prst="rect">
            <a:avLst/>
          </a:prstGeom>
        </p:spPr>
      </p:pic>
    </p:spTree>
    <p:extLst>
      <p:ext uri="{BB962C8B-B14F-4D97-AF65-F5344CB8AC3E}">
        <p14:creationId xmlns:p14="http://schemas.microsoft.com/office/powerpoint/2010/main" val="4265104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6336-14A6-423A-ABC6-DA0D07FB1F4D}"/>
              </a:ext>
            </a:extLst>
          </p:cNvPr>
          <p:cNvSpPr>
            <a:spLocks noGrp="1"/>
          </p:cNvSpPr>
          <p:nvPr>
            <p:ph type="title"/>
          </p:nvPr>
        </p:nvSpPr>
        <p:spPr/>
        <p:txBody>
          <a:bodyPr/>
          <a:lstStyle/>
          <a:p>
            <a:r>
              <a:rPr lang="en-US" dirty="0"/>
              <a:t>OBSERVATION</a:t>
            </a:r>
          </a:p>
        </p:txBody>
      </p:sp>
      <p:sp>
        <p:nvSpPr>
          <p:cNvPr id="3" name="Content Placeholder 2">
            <a:extLst>
              <a:ext uri="{FF2B5EF4-FFF2-40B4-BE49-F238E27FC236}">
                <a16:creationId xmlns:a16="http://schemas.microsoft.com/office/drawing/2014/main" id="{E2517DBE-AD9A-43AF-9E5C-8C32167296E4}"/>
              </a:ext>
            </a:extLst>
          </p:cNvPr>
          <p:cNvSpPr>
            <a:spLocks noGrp="1"/>
          </p:cNvSpPr>
          <p:nvPr>
            <p:ph idx="1"/>
          </p:nvPr>
        </p:nvSpPr>
        <p:spPr/>
        <p:txBody>
          <a:bodyPr>
            <a:normAutofit fontScale="92500" lnSpcReduction="20000"/>
          </a:bodyPr>
          <a:lstStyle/>
          <a:p>
            <a:r>
              <a:rPr lang="en-US" b="0" i="0" dirty="0">
                <a:effectLst/>
                <a:latin typeface="quote-cjk-patch"/>
              </a:rPr>
              <a:t>CatBoost achieves a </a:t>
            </a:r>
            <a:r>
              <a:rPr lang="en-US" b="1" i="0" dirty="0">
                <a:effectLst/>
                <a:latin typeface="quote-cjk-patch"/>
              </a:rPr>
              <a:t>similar performance</a:t>
            </a:r>
            <a:r>
              <a:rPr lang="en-US" b="0" i="0" dirty="0">
                <a:effectLst/>
                <a:latin typeface="quote-cjk-patch"/>
              </a:rPr>
              <a:t> to XGBoost and LightGBM with an overall accuracy of 92% and ROC‑AUC 0.931</a:t>
            </a:r>
          </a:p>
          <a:p>
            <a:r>
              <a:rPr lang="en-US" b="0" i="0" dirty="0">
                <a:effectLst/>
                <a:latin typeface="quote-cjk-patch"/>
              </a:rPr>
              <a:t>Training time (6.1 seconds) is slightly higher than LightGBM (5.2s) but still very fast.</a:t>
            </a:r>
          </a:p>
          <a:p>
            <a:r>
              <a:rPr lang="en-US" b="0" i="0" dirty="0">
                <a:effectLst/>
                <a:latin typeface="quote-cjk-patch"/>
              </a:rPr>
              <a:t>As with the other boosting models, the </a:t>
            </a:r>
            <a:r>
              <a:rPr lang="en-US" b="1" i="0" dirty="0">
                <a:effectLst/>
                <a:latin typeface="quote-cjk-patch"/>
              </a:rPr>
              <a:t>minority class recall is low (0.52)</a:t>
            </a:r>
            <a:r>
              <a:rPr lang="en-US" b="0" i="0" dirty="0">
                <a:effectLst/>
                <a:latin typeface="quote-cjk-patch"/>
              </a:rPr>
              <a:t>  about 48% of actual internet users are missed due to the severe class imbalance.</a:t>
            </a:r>
          </a:p>
          <a:p>
            <a:r>
              <a:rPr lang="en-US" b="0" i="0" dirty="0">
                <a:effectLst/>
                <a:latin typeface="quote-cjk-patch"/>
              </a:rPr>
              <a:t>The confusion matrix shows very similar error patterns: most misclassifications are false negatives (missed internet users).</a:t>
            </a:r>
          </a:p>
          <a:p>
            <a:r>
              <a:rPr lang="en-US" b="0" i="0" dirty="0">
                <a:effectLst/>
                <a:latin typeface="quote-cjk-patch"/>
              </a:rPr>
              <a:t>Feature importance (top predictors) aligns with earlier findings</a:t>
            </a:r>
            <a:r>
              <a:rPr lang="en-US" dirty="0">
                <a:latin typeface="quote-cjk-patch"/>
              </a:rPr>
              <a:t> rururb,dphone ,computer and </a:t>
            </a:r>
            <a:r>
              <a:rPr lang="en-US" b="0" i="0" dirty="0">
                <a:effectLst/>
                <a:latin typeface="quote-cjk-patch"/>
              </a:rPr>
              <a:t>education variables dominate.</a:t>
            </a:r>
            <a:endParaRPr lang="en-US" dirty="0"/>
          </a:p>
        </p:txBody>
      </p:sp>
      <p:sp>
        <p:nvSpPr>
          <p:cNvPr id="4" name="Slide Number Placeholder 3">
            <a:extLst>
              <a:ext uri="{FF2B5EF4-FFF2-40B4-BE49-F238E27FC236}">
                <a16:creationId xmlns:a16="http://schemas.microsoft.com/office/drawing/2014/main" id="{72EA98BB-071A-477D-A032-2CFA4DFD3661}"/>
              </a:ext>
            </a:extLst>
          </p:cNvPr>
          <p:cNvSpPr>
            <a:spLocks noGrp="1"/>
          </p:cNvSpPr>
          <p:nvPr>
            <p:ph type="sldNum" sz="quarter" idx="12"/>
          </p:nvPr>
        </p:nvSpPr>
        <p:spPr/>
        <p:txBody>
          <a:bodyPr>
            <a:normAutofit/>
          </a:bodyPr>
          <a:lstStyle/>
          <a:p>
            <a:fld id="{0428C338-E682-4B46-9632-D57B5813D090}" type="slidenum">
              <a:rPr lang="en-US" smtClean="0"/>
              <a:t>46</a:t>
            </a:fld>
            <a:endParaRPr lang="en-US"/>
          </a:p>
        </p:txBody>
      </p:sp>
    </p:spTree>
    <p:extLst>
      <p:ext uri="{BB962C8B-B14F-4D97-AF65-F5344CB8AC3E}">
        <p14:creationId xmlns:p14="http://schemas.microsoft.com/office/powerpoint/2010/main" val="2440560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312FA-86AD-4C01-B948-CE969DDE38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82D7DB-50EF-4B32-9759-A8DCC1D3BE29}"/>
              </a:ext>
            </a:extLst>
          </p:cNvPr>
          <p:cNvSpPr>
            <a:spLocks noGrp="1"/>
          </p:cNvSpPr>
          <p:nvPr>
            <p:ph idx="1"/>
          </p:nvPr>
        </p:nvSpPr>
        <p:spPr/>
        <p:txBody>
          <a:bodyPr/>
          <a:lstStyle/>
          <a:p>
            <a:r>
              <a:rPr lang="en-US" b="0" i="0" dirty="0">
                <a:effectLst/>
                <a:latin typeface="quote-cjk-patch"/>
              </a:rPr>
              <a:t>CatBoost provides a robust, fast alternative with the added benefit of native categorical handling, though it does not outperform XGBoost or LightGBM on this dataset. As with all boosting models, addressing class imbalance would be required to improve minority‑class detection.</a:t>
            </a:r>
            <a:endParaRPr lang="en-US" dirty="0"/>
          </a:p>
        </p:txBody>
      </p:sp>
      <p:sp>
        <p:nvSpPr>
          <p:cNvPr id="4" name="Slide Number Placeholder 3">
            <a:extLst>
              <a:ext uri="{FF2B5EF4-FFF2-40B4-BE49-F238E27FC236}">
                <a16:creationId xmlns:a16="http://schemas.microsoft.com/office/drawing/2014/main" id="{7C1F557D-B610-4B81-9DAE-75E645F6FBC6}"/>
              </a:ext>
            </a:extLst>
          </p:cNvPr>
          <p:cNvSpPr>
            <a:spLocks noGrp="1"/>
          </p:cNvSpPr>
          <p:nvPr>
            <p:ph type="sldNum" sz="quarter" idx="12"/>
          </p:nvPr>
        </p:nvSpPr>
        <p:spPr/>
        <p:txBody>
          <a:bodyPr>
            <a:normAutofit/>
          </a:bodyPr>
          <a:lstStyle/>
          <a:p>
            <a:fld id="{0428C338-E682-4B46-9632-D57B5813D090}" type="slidenum">
              <a:rPr lang="en-US" smtClean="0"/>
              <a:t>47</a:t>
            </a:fld>
            <a:endParaRPr lang="en-US"/>
          </a:p>
        </p:txBody>
      </p:sp>
    </p:spTree>
    <p:extLst>
      <p:ext uri="{BB962C8B-B14F-4D97-AF65-F5344CB8AC3E}">
        <p14:creationId xmlns:p14="http://schemas.microsoft.com/office/powerpoint/2010/main" val="15960175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AF8AC-8E28-4463-94A1-E178F5336DBF}"/>
              </a:ext>
            </a:extLst>
          </p:cNvPr>
          <p:cNvSpPr>
            <a:spLocks noGrp="1"/>
          </p:cNvSpPr>
          <p:nvPr>
            <p:ph type="title"/>
          </p:nvPr>
        </p:nvSpPr>
        <p:spPr>
          <a:xfrm>
            <a:off x="1484311" y="685801"/>
            <a:ext cx="10018713" cy="1269124"/>
          </a:xfrm>
        </p:spPr>
        <p:txBody>
          <a:bodyPr/>
          <a:lstStyle/>
          <a:p>
            <a:r>
              <a:rPr lang="en-US" dirty="0"/>
              <a:t>FEATURE IMPORTANCE </a:t>
            </a:r>
          </a:p>
        </p:txBody>
      </p:sp>
      <p:pic>
        <p:nvPicPr>
          <p:cNvPr id="6" name="Content Placeholder 5">
            <a:extLst>
              <a:ext uri="{FF2B5EF4-FFF2-40B4-BE49-F238E27FC236}">
                <a16:creationId xmlns:a16="http://schemas.microsoft.com/office/drawing/2014/main" id="{092B7821-F487-4C68-A55A-32068E920642}"/>
              </a:ext>
            </a:extLst>
          </p:cNvPr>
          <p:cNvPicPr>
            <a:picLocks noGrp="1" noChangeAspect="1"/>
          </p:cNvPicPr>
          <p:nvPr>
            <p:ph idx="1"/>
          </p:nvPr>
        </p:nvPicPr>
        <p:blipFill>
          <a:blip r:embed="rId2"/>
          <a:stretch>
            <a:fillRect/>
          </a:stretch>
        </p:blipFill>
        <p:spPr>
          <a:xfrm>
            <a:off x="2128345" y="1954924"/>
            <a:ext cx="9774621" cy="4445876"/>
          </a:xfrm>
        </p:spPr>
      </p:pic>
      <p:sp>
        <p:nvSpPr>
          <p:cNvPr id="4" name="Slide Number Placeholder 3">
            <a:extLst>
              <a:ext uri="{FF2B5EF4-FFF2-40B4-BE49-F238E27FC236}">
                <a16:creationId xmlns:a16="http://schemas.microsoft.com/office/drawing/2014/main" id="{B35CA327-34FB-4C0C-9EA1-5F5D24423F66}"/>
              </a:ext>
            </a:extLst>
          </p:cNvPr>
          <p:cNvSpPr>
            <a:spLocks noGrp="1"/>
          </p:cNvSpPr>
          <p:nvPr>
            <p:ph type="sldNum" sz="quarter" idx="12"/>
          </p:nvPr>
        </p:nvSpPr>
        <p:spPr/>
        <p:txBody>
          <a:bodyPr>
            <a:normAutofit/>
          </a:bodyPr>
          <a:lstStyle/>
          <a:p>
            <a:fld id="{0428C338-E682-4B46-9632-D57B5813D090}" type="slidenum">
              <a:rPr lang="en-US" smtClean="0"/>
              <a:t>48</a:t>
            </a:fld>
            <a:endParaRPr lang="en-US"/>
          </a:p>
        </p:txBody>
      </p:sp>
    </p:spTree>
    <p:extLst>
      <p:ext uri="{BB962C8B-B14F-4D97-AF65-F5344CB8AC3E}">
        <p14:creationId xmlns:p14="http://schemas.microsoft.com/office/powerpoint/2010/main" val="3384445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DC024-F691-4CF1-9826-5A95913715C7}"/>
              </a:ext>
            </a:extLst>
          </p:cNvPr>
          <p:cNvSpPr>
            <a:spLocks noGrp="1"/>
          </p:cNvSpPr>
          <p:nvPr>
            <p:ph type="title"/>
          </p:nvPr>
        </p:nvSpPr>
        <p:spPr/>
        <p:txBody>
          <a:bodyPr/>
          <a:lstStyle/>
          <a:p>
            <a:r>
              <a:rPr lang="en-US" dirty="0"/>
              <a:t>MODEL DEPLOYMENT</a:t>
            </a:r>
          </a:p>
        </p:txBody>
      </p:sp>
      <p:sp>
        <p:nvSpPr>
          <p:cNvPr id="3" name="Content Placeholder 2">
            <a:extLst>
              <a:ext uri="{FF2B5EF4-FFF2-40B4-BE49-F238E27FC236}">
                <a16:creationId xmlns:a16="http://schemas.microsoft.com/office/drawing/2014/main" id="{63A56494-F26A-4B85-BE6F-E2997BBF9A1F}"/>
              </a:ext>
            </a:extLst>
          </p:cNvPr>
          <p:cNvSpPr>
            <a:spLocks noGrp="1"/>
          </p:cNvSpPr>
          <p:nvPr>
            <p:ph idx="1"/>
          </p:nvPr>
        </p:nvSpPr>
        <p:spPr/>
        <p:txBody>
          <a:bodyPr/>
          <a:lstStyle/>
          <a:p>
            <a:r>
              <a:rPr lang="en-US" sz="1800" dirty="0">
                <a:latin typeface="Arial" panose="020B0604020202020204" pitchFamily="34" charset="0"/>
                <a:ea typeface="Arial" panose="020B0604020202020204" pitchFamily="34" charset="0"/>
              </a:rPr>
              <a:t>T</a:t>
            </a:r>
            <a:r>
              <a:rPr lang="en-US" sz="1800" dirty="0">
                <a:effectLst/>
                <a:latin typeface="Arial" panose="020B0604020202020204" pitchFamily="34" charset="0"/>
                <a:ea typeface="Arial" panose="020B0604020202020204" pitchFamily="34" charset="0"/>
              </a:rPr>
              <a:t>he deployment of a Lightgbm binary classification model developed to predict internet access among individuals in Uganda, using data derived from the Uganda National Census. The model is integrated into a Streamlit web application and made available to end users for real-time inference</a:t>
            </a:r>
          </a:p>
          <a:p>
            <a:r>
              <a:rPr lang="en-US" sz="1800" dirty="0">
                <a:solidFill>
                  <a:srgbClr val="1E293B"/>
                </a:solidFill>
                <a:effectLst/>
                <a:latin typeface="Arial" panose="020B0604020202020204" pitchFamily="34" charset="0"/>
                <a:ea typeface="Arial" panose="020B0604020202020204" pitchFamily="34" charset="0"/>
              </a:rPr>
              <a:t>The model outputs a probability score between 0 and 1, representing the likelihood that an individual has internet access. A custom threshold (rather than the default 0.5) is applied to convert the probability to a binary label:</a:t>
            </a:r>
          </a:p>
          <a:p>
            <a:endParaRPr lang="en-US" sz="1800" dirty="0">
              <a:effectLst/>
              <a:latin typeface="Arial" panose="020B0604020202020204" pitchFamily="34" charset="0"/>
              <a:ea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37F285F8-B7BE-44AD-9851-58E96CACD98E}"/>
              </a:ext>
            </a:extLst>
          </p:cNvPr>
          <p:cNvSpPr>
            <a:spLocks noGrp="1"/>
          </p:cNvSpPr>
          <p:nvPr>
            <p:ph type="sldNum" sz="quarter" idx="12"/>
          </p:nvPr>
        </p:nvSpPr>
        <p:spPr/>
        <p:txBody>
          <a:bodyPr/>
          <a:lstStyle/>
          <a:p>
            <a:fld id="{0428C338-E682-4B46-9632-D57B5813D090}" type="slidenum">
              <a:rPr lang="en-US" smtClean="0"/>
              <a:t>49</a:t>
            </a:fld>
            <a:endParaRPr lang="en-US"/>
          </a:p>
        </p:txBody>
      </p:sp>
    </p:spTree>
    <p:extLst>
      <p:ext uri="{BB962C8B-B14F-4D97-AF65-F5344CB8AC3E}">
        <p14:creationId xmlns:p14="http://schemas.microsoft.com/office/powerpoint/2010/main" val="2928573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7DF1AB-95FD-4C6E-AA8D-4D391485D0AB}"/>
              </a:ext>
            </a:extLst>
          </p:cNvPr>
          <p:cNvSpPr>
            <a:spLocks noGrp="1"/>
          </p:cNvSpPr>
          <p:nvPr>
            <p:ph type="sldNum" sz="quarter" idx="12"/>
          </p:nvPr>
        </p:nvSpPr>
        <p:spPr/>
        <p:txBody>
          <a:bodyPr/>
          <a:lstStyle/>
          <a:p>
            <a:fld id="{00000000-1234-1234-1234-123412341234}" type="slidenum">
              <a:rPr lang="en-US" smtClean="0"/>
              <a:pPr/>
              <a:t>50</a:t>
            </a:fld>
            <a:endParaRPr lang="en-US"/>
          </a:p>
        </p:txBody>
      </p:sp>
      <p:pic>
        <p:nvPicPr>
          <p:cNvPr id="4" name="Picture 3">
            <a:extLst>
              <a:ext uri="{FF2B5EF4-FFF2-40B4-BE49-F238E27FC236}">
                <a16:creationId xmlns:a16="http://schemas.microsoft.com/office/drawing/2014/main" id="{032A1599-DFB2-420B-BC3A-5F4817F9C952}"/>
              </a:ext>
            </a:extLst>
          </p:cNvPr>
          <p:cNvPicPr>
            <a:picLocks noChangeAspect="1"/>
          </p:cNvPicPr>
          <p:nvPr/>
        </p:nvPicPr>
        <p:blipFill>
          <a:blip r:embed="rId2"/>
          <a:stretch>
            <a:fillRect/>
          </a:stretch>
        </p:blipFill>
        <p:spPr>
          <a:xfrm>
            <a:off x="1094289" y="3590621"/>
            <a:ext cx="10003422" cy="2904772"/>
          </a:xfrm>
          <a:prstGeom prst="rect">
            <a:avLst/>
          </a:prstGeom>
        </p:spPr>
      </p:pic>
      <p:pic>
        <p:nvPicPr>
          <p:cNvPr id="6" name="Picture 5">
            <a:extLst>
              <a:ext uri="{FF2B5EF4-FFF2-40B4-BE49-F238E27FC236}">
                <a16:creationId xmlns:a16="http://schemas.microsoft.com/office/drawing/2014/main" id="{B78E7AAE-163E-4B3E-9D4F-0C5C0F0763E7}"/>
              </a:ext>
            </a:extLst>
          </p:cNvPr>
          <p:cNvPicPr>
            <a:picLocks noChangeAspect="1"/>
          </p:cNvPicPr>
          <p:nvPr/>
        </p:nvPicPr>
        <p:blipFill>
          <a:blip r:embed="rId3"/>
          <a:stretch>
            <a:fillRect/>
          </a:stretch>
        </p:blipFill>
        <p:spPr>
          <a:xfrm>
            <a:off x="1094288" y="1215053"/>
            <a:ext cx="10003421" cy="2052325"/>
          </a:xfrm>
          <a:prstGeom prst="rect">
            <a:avLst/>
          </a:prstGeom>
        </p:spPr>
      </p:pic>
    </p:spTree>
    <p:extLst>
      <p:ext uri="{BB962C8B-B14F-4D97-AF65-F5344CB8AC3E}">
        <p14:creationId xmlns:p14="http://schemas.microsoft.com/office/powerpoint/2010/main" val="10476766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F5B3-D1F3-4374-9ED8-F0762698A822}"/>
              </a:ext>
            </a:extLst>
          </p:cNvPr>
          <p:cNvSpPr>
            <a:spLocks noGrp="1"/>
          </p:cNvSpPr>
          <p:nvPr>
            <p:ph type="title"/>
          </p:nvPr>
        </p:nvSpPr>
        <p:spPr>
          <a:xfrm>
            <a:off x="1484311" y="685800"/>
            <a:ext cx="10018713" cy="1048407"/>
          </a:xfrm>
        </p:spPr>
        <p:txBody>
          <a:bodyPr/>
          <a:lstStyle/>
          <a:p>
            <a:r>
              <a:rPr lang="en-US" sz="1800" b="1" kern="0" dirty="0">
                <a:solidFill>
                  <a:srgbClr val="1E40AF"/>
                </a:solidFill>
                <a:effectLst/>
                <a:latin typeface="Arial" panose="020B0604020202020204" pitchFamily="34" charset="0"/>
              </a:rPr>
              <a:t>DEPLOYMENT ARCHITECTURE</a:t>
            </a:r>
            <a:endParaRPr lang="en-US" dirty="0"/>
          </a:p>
        </p:txBody>
      </p:sp>
      <p:sp>
        <p:nvSpPr>
          <p:cNvPr id="3" name="Content Placeholder 2">
            <a:extLst>
              <a:ext uri="{FF2B5EF4-FFF2-40B4-BE49-F238E27FC236}">
                <a16:creationId xmlns:a16="http://schemas.microsoft.com/office/drawing/2014/main" id="{4380B92A-A6F8-4593-A91B-CEDC96D56457}"/>
              </a:ext>
            </a:extLst>
          </p:cNvPr>
          <p:cNvSpPr>
            <a:spLocks noGrp="1"/>
          </p:cNvSpPr>
          <p:nvPr>
            <p:ph idx="1"/>
          </p:nvPr>
        </p:nvSpPr>
        <p:spPr/>
        <p:txBody>
          <a:bodyPr/>
          <a:lstStyle/>
          <a:p>
            <a:r>
              <a:rPr lang="en-US" sz="1800" dirty="0">
                <a:solidFill>
                  <a:srgbClr val="1E293B"/>
                </a:solidFill>
                <a:effectLst/>
                <a:latin typeface="Arial" panose="020B0604020202020204" pitchFamily="34" charset="0"/>
                <a:ea typeface="Arial" panose="020B0604020202020204" pitchFamily="34" charset="0"/>
              </a:rPr>
              <a:t>The model is deployed as a lightweight interactive web application using Streamlit, a Python-based framework for building data-driven applications. The entire deployment is self-contained and runs locally or on any server with Python installed.</a:t>
            </a:r>
          </a:p>
          <a:p>
            <a:endParaRPr lang="en-US" dirty="0"/>
          </a:p>
        </p:txBody>
      </p:sp>
      <p:sp>
        <p:nvSpPr>
          <p:cNvPr id="4" name="Slide Number Placeholder 3">
            <a:extLst>
              <a:ext uri="{FF2B5EF4-FFF2-40B4-BE49-F238E27FC236}">
                <a16:creationId xmlns:a16="http://schemas.microsoft.com/office/drawing/2014/main" id="{F4EFE489-E1D1-42F4-8B7B-799AF115A464}"/>
              </a:ext>
            </a:extLst>
          </p:cNvPr>
          <p:cNvSpPr>
            <a:spLocks noGrp="1"/>
          </p:cNvSpPr>
          <p:nvPr>
            <p:ph type="sldNum" sz="quarter" idx="12"/>
          </p:nvPr>
        </p:nvSpPr>
        <p:spPr/>
        <p:txBody>
          <a:bodyPr/>
          <a:lstStyle/>
          <a:p>
            <a:fld id="{0428C338-E682-4B46-9632-D57B5813D090}" type="slidenum">
              <a:rPr lang="en-US" smtClean="0"/>
              <a:t>51</a:t>
            </a:fld>
            <a:endParaRPr lang="en-US"/>
          </a:p>
        </p:txBody>
      </p:sp>
    </p:spTree>
    <p:extLst>
      <p:ext uri="{BB962C8B-B14F-4D97-AF65-F5344CB8AC3E}">
        <p14:creationId xmlns:p14="http://schemas.microsoft.com/office/powerpoint/2010/main" val="2934190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C2D6-FBC2-49F9-8711-0F291FB0408F}"/>
              </a:ext>
            </a:extLst>
          </p:cNvPr>
          <p:cNvSpPr>
            <a:spLocks noGrp="1"/>
          </p:cNvSpPr>
          <p:nvPr>
            <p:ph type="title"/>
          </p:nvPr>
        </p:nvSpPr>
        <p:spPr/>
        <p:txBody>
          <a:bodyPr/>
          <a:lstStyle/>
          <a:p>
            <a:r>
              <a:rPr lang="en-US" dirty="0"/>
              <a:t>TECHNOLOGY STACK</a:t>
            </a:r>
          </a:p>
        </p:txBody>
      </p:sp>
      <p:pic>
        <p:nvPicPr>
          <p:cNvPr id="6" name="Content Placeholder 5">
            <a:extLst>
              <a:ext uri="{FF2B5EF4-FFF2-40B4-BE49-F238E27FC236}">
                <a16:creationId xmlns:a16="http://schemas.microsoft.com/office/drawing/2014/main" id="{73D083D2-E13F-4AB6-BEA4-DE1725F7B6B2}"/>
              </a:ext>
            </a:extLst>
          </p:cNvPr>
          <p:cNvPicPr>
            <a:picLocks noGrp="1" noChangeAspect="1"/>
          </p:cNvPicPr>
          <p:nvPr>
            <p:ph idx="1"/>
          </p:nvPr>
        </p:nvPicPr>
        <p:blipFill>
          <a:blip r:embed="rId2"/>
          <a:stretch>
            <a:fillRect/>
          </a:stretch>
        </p:blipFill>
        <p:spPr>
          <a:xfrm>
            <a:off x="1040524" y="2438399"/>
            <a:ext cx="10200290" cy="3584029"/>
          </a:xfrm>
        </p:spPr>
      </p:pic>
      <p:sp>
        <p:nvSpPr>
          <p:cNvPr id="4" name="Slide Number Placeholder 3">
            <a:extLst>
              <a:ext uri="{FF2B5EF4-FFF2-40B4-BE49-F238E27FC236}">
                <a16:creationId xmlns:a16="http://schemas.microsoft.com/office/drawing/2014/main" id="{C8AFEF69-8021-4DAD-A683-3A8C24E1E123}"/>
              </a:ext>
            </a:extLst>
          </p:cNvPr>
          <p:cNvSpPr>
            <a:spLocks noGrp="1"/>
          </p:cNvSpPr>
          <p:nvPr>
            <p:ph type="sldNum" sz="quarter" idx="12"/>
          </p:nvPr>
        </p:nvSpPr>
        <p:spPr/>
        <p:txBody>
          <a:bodyPr/>
          <a:lstStyle/>
          <a:p>
            <a:fld id="{0428C338-E682-4B46-9632-D57B5813D090}" type="slidenum">
              <a:rPr lang="en-US" smtClean="0"/>
              <a:t>52</a:t>
            </a:fld>
            <a:endParaRPr lang="en-US"/>
          </a:p>
        </p:txBody>
      </p:sp>
    </p:spTree>
    <p:extLst>
      <p:ext uri="{BB962C8B-B14F-4D97-AF65-F5344CB8AC3E}">
        <p14:creationId xmlns:p14="http://schemas.microsoft.com/office/powerpoint/2010/main" val="33103319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1F2B-B75F-4F78-A77F-6BD78B344951}"/>
              </a:ext>
            </a:extLst>
          </p:cNvPr>
          <p:cNvSpPr>
            <a:spLocks noGrp="1"/>
          </p:cNvSpPr>
          <p:nvPr>
            <p:ph type="title"/>
          </p:nvPr>
        </p:nvSpPr>
        <p:spPr/>
        <p:txBody>
          <a:bodyPr/>
          <a:lstStyle/>
          <a:p>
            <a:r>
              <a:rPr lang="en-US" dirty="0"/>
              <a:t>DEPLOYMENT FLOW</a:t>
            </a:r>
          </a:p>
        </p:txBody>
      </p:sp>
      <p:sp>
        <p:nvSpPr>
          <p:cNvPr id="3" name="Content Placeholder 2">
            <a:extLst>
              <a:ext uri="{FF2B5EF4-FFF2-40B4-BE49-F238E27FC236}">
                <a16:creationId xmlns:a16="http://schemas.microsoft.com/office/drawing/2014/main" id="{F369A7F5-1D11-43BD-9FD3-7A22739F840D}"/>
              </a:ext>
            </a:extLst>
          </p:cNvPr>
          <p:cNvSpPr>
            <a:spLocks noGrp="1"/>
          </p:cNvSpPr>
          <p:nvPr>
            <p:ph idx="1"/>
          </p:nvPr>
        </p:nvSpPr>
        <p:spPr/>
        <p:txBody>
          <a:bodyPr/>
          <a:lstStyle/>
          <a:p>
            <a:pPr>
              <a:spcBef>
                <a:spcPts val="400"/>
              </a:spcBef>
              <a:spcAft>
                <a:spcPts val="400"/>
              </a:spcAft>
            </a:pPr>
            <a:r>
              <a:rPr lang="en-US" sz="1800" dirty="0">
                <a:solidFill>
                  <a:srgbClr val="1E293B"/>
                </a:solidFill>
                <a:effectLst/>
                <a:latin typeface="Arial" panose="020B0604020202020204" pitchFamily="34" charset="0"/>
                <a:ea typeface="Arial" panose="020B0604020202020204" pitchFamily="34" charset="0"/>
              </a:rPr>
              <a:t>The following steps describe the end-to-end flow from user input to prediction output:</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User opens the Streamlit web app in a browser</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User fills in demographic, household and economic fields</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On clicking Predict, inputs are assembled into a pandas DataFrame</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The DataFrame is passed to model. predict_proba() for scoring</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The probability is compared against the custom threshold</a:t>
            </a:r>
          </a:p>
          <a:p>
            <a:pPr marL="342900" lvl="0" indent="-342900">
              <a:spcBef>
                <a:spcPts val="300"/>
              </a:spcBef>
              <a:spcAft>
                <a:spcPts val="300"/>
              </a:spcAft>
              <a:buFont typeface="Arial" panose="020B0604020202020204" pitchFamily="34" charset="0"/>
              <a:buChar char="•"/>
            </a:pPr>
            <a:r>
              <a:rPr lang="en-US" sz="1800" dirty="0">
                <a:solidFill>
                  <a:srgbClr val="1E293B"/>
                </a:solidFill>
                <a:effectLst/>
                <a:latin typeface="Arial" panose="020B0604020202020204" pitchFamily="34" charset="0"/>
                <a:ea typeface="Arial" panose="020B0604020202020204" pitchFamily="34" charset="0"/>
              </a:rPr>
              <a:t>The result and confidence score are rendered back to the user</a:t>
            </a:r>
          </a:p>
          <a:p>
            <a:endParaRPr lang="en-US" dirty="0"/>
          </a:p>
        </p:txBody>
      </p:sp>
      <p:sp>
        <p:nvSpPr>
          <p:cNvPr id="4" name="Slide Number Placeholder 3">
            <a:extLst>
              <a:ext uri="{FF2B5EF4-FFF2-40B4-BE49-F238E27FC236}">
                <a16:creationId xmlns:a16="http://schemas.microsoft.com/office/drawing/2014/main" id="{8F42B559-9FB1-49B6-B706-AAC140D04E15}"/>
              </a:ext>
            </a:extLst>
          </p:cNvPr>
          <p:cNvSpPr>
            <a:spLocks noGrp="1"/>
          </p:cNvSpPr>
          <p:nvPr>
            <p:ph type="sldNum" sz="quarter" idx="12"/>
          </p:nvPr>
        </p:nvSpPr>
        <p:spPr/>
        <p:txBody>
          <a:bodyPr/>
          <a:lstStyle/>
          <a:p>
            <a:fld id="{0428C338-E682-4B46-9632-D57B5813D090}" type="slidenum">
              <a:rPr lang="en-US" smtClean="0"/>
              <a:t>53</a:t>
            </a:fld>
            <a:endParaRPr lang="en-US"/>
          </a:p>
        </p:txBody>
      </p:sp>
    </p:spTree>
    <p:extLst>
      <p:ext uri="{BB962C8B-B14F-4D97-AF65-F5344CB8AC3E}">
        <p14:creationId xmlns:p14="http://schemas.microsoft.com/office/powerpoint/2010/main" val="346367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46CD8-DEE6-4128-B08E-EE8700EA16DC}"/>
              </a:ext>
            </a:extLst>
          </p:cNvPr>
          <p:cNvSpPr>
            <a:spLocks noGrp="1"/>
          </p:cNvSpPr>
          <p:nvPr>
            <p:ph type="title"/>
          </p:nvPr>
        </p:nvSpPr>
        <p:spPr/>
        <p:txBody>
          <a:bodyPr/>
          <a:lstStyle/>
          <a:p>
            <a:r>
              <a:rPr lang="en-US" dirty="0"/>
              <a:t>STRUCTURE</a:t>
            </a:r>
          </a:p>
        </p:txBody>
      </p:sp>
      <p:pic>
        <p:nvPicPr>
          <p:cNvPr id="6" name="Content Placeholder 5">
            <a:extLst>
              <a:ext uri="{FF2B5EF4-FFF2-40B4-BE49-F238E27FC236}">
                <a16:creationId xmlns:a16="http://schemas.microsoft.com/office/drawing/2014/main" id="{8E4386C5-E272-4DAE-84EB-01EC87A816D2}"/>
              </a:ext>
            </a:extLst>
          </p:cNvPr>
          <p:cNvPicPr>
            <a:picLocks noGrp="1" noChangeAspect="1"/>
          </p:cNvPicPr>
          <p:nvPr>
            <p:ph idx="1"/>
          </p:nvPr>
        </p:nvPicPr>
        <p:blipFill>
          <a:blip r:embed="rId2"/>
          <a:stretch>
            <a:fillRect/>
          </a:stretch>
        </p:blipFill>
        <p:spPr>
          <a:xfrm>
            <a:off x="1484311" y="2554014"/>
            <a:ext cx="9772268" cy="3313117"/>
          </a:xfrm>
        </p:spPr>
      </p:pic>
      <p:sp>
        <p:nvSpPr>
          <p:cNvPr id="4" name="Slide Number Placeholder 3">
            <a:extLst>
              <a:ext uri="{FF2B5EF4-FFF2-40B4-BE49-F238E27FC236}">
                <a16:creationId xmlns:a16="http://schemas.microsoft.com/office/drawing/2014/main" id="{6F458DA6-A92E-44D4-834B-2455D0D993A9}"/>
              </a:ext>
            </a:extLst>
          </p:cNvPr>
          <p:cNvSpPr>
            <a:spLocks noGrp="1"/>
          </p:cNvSpPr>
          <p:nvPr>
            <p:ph type="sldNum" sz="quarter" idx="12"/>
          </p:nvPr>
        </p:nvSpPr>
        <p:spPr/>
        <p:txBody>
          <a:bodyPr/>
          <a:lstStyle/>
          <a:p>
            <a:fld id="{0428C338-E682-4B46-9632-D57B5813D090}" type="slidenum">
              <a:rPr lang="en-US" smtClean="0"/>
              <a:t>54</a:t>
            </a:fld>
            <a:endParaRPr lang="en-US"/>
          </a:p>
        </p:txBody>
      </p:sp>
    </p:spTree>
    <p:extLst>
      <p:ext uri="{BB962C8B-B14F-4D97-AF65-F5344CB8AC3E}">
        <p14:creationId xmlns:p14="http://schemas.microsoft.com/office/powerpoint/2010/main" val="2333190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3D6B-DC83-4812-A9FA-A667C8D05631}"/>
              </a:ext>
            </a:extLst>
          </p:cNvPr>
          <p:cNvSpPr>
            <a:spLocks noGrp="1"/>
          </p:cNvSpPr>
          <p:nvPr>
            <p:ph type="title"/>
          </p:nvPr>
        </p:nvSpPr>
        <p:spPr/>
        <p:txBody>
          <a:bodyPr/>
          <a:lstStyle/>
          <a:p>
            <a:r>
              <a:rPr lang="en-US" dirty="0"/>
              <a:t>FEATURE DESCRIPTION</a:t>
            </a:r>
          </a:p>
        </p:txBody>
      </p:sp>
      <p:pic>
        <p:nvPicPr>
          <p:cNvPr id="6" name="Content Placeholder 5">
            <a:extLst>
              <a:ext uri="{FF2B5EF4-FFF2-40B4-BE49-F238E27FC236}">
                <a16:creationId xmlns:a16="http://schemas.microsoft.com/office/drawing/2014/main" id="{22F7663F-4CFC-46E1-A5E2-78F5D7FB94D9}"/>
              </a:ext>
            </a:extLst>
          </p:cNvPr>
          <p:cNvPicPr>
            <a:picLocks noGrp="1" noChangeAspect="1"/>
          </p:cNvPicPr>
          <p:nvPr>
            <p:ph idx="1"/>
          </p:nvPr>
        </p:nvPicPr>
        <p:blipFill>
          <a:blip r:embed="rId2"/>
          <a:stretch>
            <a:fillRect/>
          </a:stretch>
        </p:blipFill>
        <p:spPr>
          <a:xfrm>
            <a:off x="1371600" y="2049517"/>
            <a:ext cx="10452538" cy="4682359"/>
          </a:xfrm>
        </p:spPr>
      </p:pic>
      <p:sp>
        <p:nvSpPr>
          <p:cNvPr id="4" name="Slide Number Placeholder 3">
            <a:extLst>
              <a:ext uri="{FF2B5EF4-FFF2-40B4-BE49-F238E27FC236}">
                <a16:creationId xmlns:a16="http://schemas.microsoft.com/office/drawing/2014/main" id="{0218D20F-F9EF-41BF-8EB0-680736D38F5C}"/>
              </a:ext>
            </a:extLst>
          </p:cNvPr>
          <p:cNvSpPr>
            <a:spLocks noGrp="1"/>
          </p:cNvSpPr>
          <p:nvPr>
            <p:ph type="sldNum" sz="quarter" idx="12"/>
          </p:nvPr>
        </p:nvSpPr>
        <p:spPr/>
        <p:txBody>
          <a:bodyPr/>
          <a:lstStyle/>
          <a:p>
            <a:fld id="{0428C338-E682-4B46-9632-D57B5813D090}" type="slidenum">
              <a:rPr lang="en-US" smtClean="0"/>
              <a:t>55</a:t>
            </a:fld>
            <a:endParaRPr lang="en-US"/>
          </a:p>
        </p:txBody>
      </p:sp>
    </p:spTree>
    <p:extLst>
      <p:ext uri="{BB962C8B-B14F-4D97-AF65-F5344CB8AC3E}">
        <p14:creationId xmlns:p14="http://schemas.microsoft.com/office/powerpoint/2010/main" val="713679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32E1-3D82-4289-B71A-E01DD17F98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B960AD-36CA-4584-A75E-EC898702F8BB}"/>
              </a:ext>
            </a:extLst>
          </p:cNvPr>
          <p:cNvSpPr>
            <a:spLocks noGrp="1"/>
          </p:cNvSpPr>
          <p:nvPr>
            <p:ph idx="1"/>
          </p:nvPr>
        </p:nvSpPr>
        <p:spPr/>
        <p:txBody>
          <a:bodyPr/>
          <a:lstStyle/>
          <a:p>
            <a:r>
              <a:rPr lang="en-US" sz="1800" dirty="0">
                <a:solidFill>
                  <a:srgbClr val="1E293B"/>
                </a:solidFill>
                <a:effectLst/>
                <a:latin typeface="Arial" panose="020B0604020202020204" pitchFamily="34" charset="0"/>
                <a:ea typeface="Arial" panose="020B0604020202020204" pitchFamily="34" charset="0"/>
              </a:rPr>
              <a:t>The model uses 13 input features drawn from the Uganda National Census. These are grouped into three categories: Demographics, Household Assets, and Economic Indicators.</a:t>
            </a:r>
          </a:p>
          <a:p>
            <a:r>
              <a:rPr lang="en-US" dirty="0"/>
              <a:t>With an additional feature Energy source</a:t>
            </a:r>
          </a:p>
          <a:p>
            <a:r>
              <a:rPr lang="en-US" dirty="0"/>
              <a:t>Access The web </a:t>
            </a:r>
            <a:r>
              <a:rPr lang="en-US" dirty="0">
                <a:hlinkClick r:id="rId2"/>
              </a:rPr>
              <a:t>here</a:t>
            </a:r>
            <a:endParaRPr lang="en-US" dirty="0"/>
          </a:p>
        </p:txBody>
      </p:sp>
      <p:sp>
        <p:nvSpPr>
          <p:cNvPr id="4" name="Slide Number Placeholder 3">
            <a:extLst>
              <a:ext uri="{FF2B5EF4-FFF2-40B4-BE49-F238E27FC236}">
                <a16:creationId xmlns:a16="http://schemas.microsoft.com/office/drawing/2014/main" id="{9D1C1CD6-D84E-41FD-A457-06DFC7D7A41C}"/>
              </a:ext>
            </a:extLst>
          </p:cNvPr>
          <p:cNvSpPr>
            <a:spLocks noGrp="1"/>
          </p:cNvSpPr>
          <p:nvPr>
            <p:ph type="sldNum" sz="quarter" idx="12"/>
          </p:nvPr>
        </p:nvSpPr>
        <p:spPr/>
        <p:txBody>
          <a:bodyPr/>
          <a:lstStyle/>
          <a:p>
            <a:fld id="{0428C338-E682-4B46-9632-D57B5813D090}" type="slidenum">
              <a:rPr lang="en-US" smtClean="0"/>
              <a:t>56</a:t>
            </a:fld>
            <a:endParaRPr lang="en-US"/>
          </a:p>
        </p:txBody>
      </p:sp>
    </p:spTree>
    <p:extLst>
      <p:ext uri="{BB962C8B-B14F-4D97-AF65-F5344CB8AC3E}">
        <p14:creationId xmlns:p14="http://schemas.microsoft.com/office/powerpoint/2010/main" val="28930702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CB77-C60E-42B1-A3B1-CE39CC66583C}"/>
              </a:ext>
            </a:extLst>
          </p:cNvPr>
          <p:cNvSpPr>
            <a:spLocks noGrp="1"/>
          </p:cNvSpPr>
          <p:nvPr>
            <p:ph type="title"/>
          </p:nvPr>
        </p:nvSpPr>
        <p:spPr/>
        <p:txBody>
          <a:bodyPr/>
          <a:lstStyle/>
          <a:p>
            <a:r>
              <a:rPr lang="en-US" dirty="0"/>
              <a:t>RUNNING THE APPLICATION</a:t>
            </a:r>
          </a:p>
        </p:txBody>
      </p:sp>
      <p:pic>
        <p:nvPicPr>
          <p:cNvPr id="6" name="Content Placeholder 5">
            <a:extLst>
              <a:ext uri="{FF2B5EF4-FFF2-40B4-BE49-F238E27FC236}">
                <a16:creationId xmlns:a16="http://schemas.microsoft.com/office/drawing/2014/main" id="{A359414B-724C-4558-A235-7C82A4BFB43A}"/>
              </a:ext>
            </a:extLst>
          </p:cNvPr>
          <p:cNvPicPr>
            <a:picLocks noGrp="1" noChangeAspect="1"/>
          </p:cNvPicPr>
          <p:nvPr>
            <p:ph idx="1"/>
          </p:nvPr>
        </p:nvPicPr>
        <p:blipFill>
          <a:blip r:embed="rId2"/>
          <a:stretch>
            <a:fillRect/>
          </a:stretch>
        </p:blipFill>
        <p:spPr>
          <a:xfrm>
            <a:off x="1072055" y="2438399"/>
            <a:ext cx="10430968" cy="2281307"/>
          </a:xfrm>
        </p:spPr>
      </p:pic>
      <p:sp>
        <p:nvSpPr>
          <p:cNvPr id="4" name="Slide Number Placeholder 3">
            <a:extLst>
              <a:ext uri="{FF2B5EF4-FFF2-40B4-BE49-F238E27FC236}">
                <a16:creationId xmlns:a16="http://schemas.microsoft.com/office/drawing/2014/main" id="{4F5D5E0C-3528-4C8F-B8BB-257D1CEAB535}"/>
              </a:ext>
            </a:extLst>
          </p:cNvPr>
          <p:cNvSpPr>
            <a:spLocks noGrp="1"/>
          </p:cNvSpPr>
          <p:nvPr>
            <p:ph type="sldNum" sz="quarter" idx="12"/>
          </p:nvPr>
        </p:nvSpPr>
        <p:spPr/>
        <p:txBody>
          <a:bodyPr/>
          <a:lstStyle/>
          <a:p>
            <a:fld id="{0428C338-E682-4B46-9632-D57B5813D090}" type="slidenum">
              <a:rPr lang="en-US" smtClean="0"/>
              <a:t>57</a:t>
            </a:fld>
            <a:endParaRPr lang="en-US"/>
          </a:p>
        </p:txBody>
      </p:sp>
    </p:spTree>
    <p:extLst>
      <p:ext uri="{BB962C8B-B14F-4D97-AF65-F5344CB8AC3E}">
        <p14:creationId xmlns:p14="http://schemas.microsoft.com/office/powerpoint/2010/main" val="3894220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9000111C-2174-C10A-79D5-67F583ACF19E}"/>
            </a:ext>
          </a:extLst>
        </p:cNvPr>
        <p:cNvGrpSpPr/>
        <p:nvPr/>
      </p:nvGrpSpPr>
      <p:grpSpPr>
        <a:xfrm>
          <a:off x="0" y="0"/>
          <a:ext cx="0" cy="0"/>
          <a:chOff x="0" y="0"/>
          <a:chExt cx="0" cy="0"/>
        </a:xfrm>
      </p:grpSpPr>
      <p:sp>
        <p:nvSpPr>
          <p:cNvPr id="153" name="Google Shape;153;p10">
            <a:extLst>
              <a:ext uri="{FF2B5EF4-FFF2-40B4-BE49-F238E27FC236}">
                <a16:creationId xmlns:a16="http://schemas.microsoft.com/office/drawing/2014/main" id="{34B10CF3-0F00-C01C-8AB4-55B2C0C21C67}"/>
              </a:ext>
            </a:extLst>
          </p:cNvPr>
          <p:cNvSpPr txBox="1">
            <a:spLocks noGrp="1"/>
          </p:cNvSpPr>
          <p:nvPr>
            <p:ph type="title"/>
          </p:nvPr>
        </p:nvSpPr>
        <p:spPr>
          <a:xfrm>
            <a:off x="1981200" y="38100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CONCLUSIONS AND LIMITATIONS</a:t>
            </a:r>
          </a:p>
        </p:txBody>
      </p:sp>
      <p:sp>
        <p:nvSpPr>
          <p:cNvPr id="154" name="Google Shape;154;p10">
            <a:extLst>
              <a:ext uri="{FF2B5EF4-FFF2-40B4-BE49-F238E27FC236}">
                <a16:creationId xmlns:a16="http://schemas.microsoft.com/office/drawing/2014/main" id="{652664E3-DD5D-95C9-04BF-E3AEB8D852EB}"/>
              </a:ext>
            </a:extLst>
          </p:cNvPr>
          <p:cNvSpPr txBox="1">
            <a:spLocks noGrp="1"/>
          </p:cNvSpPr>
          <p:nvPr>
            <p:ph idx="1"/>
          </p:nvPr>
        </p:nvSpPr>
        <p:spPr>
          <a:xfrm>
            <a:off x="242595" y="1489644"/>
            <a:ext cx="5853405" cy="5127315"/>
          </a:xfrm>
          <a:prstGeom prst="rect">
            <a:avLst/>
          </a:prstGeom>
          <a:noFill/>
          <a:ln>
            <a:noFill/>
          </a:ln>
        </p:spPr>
        <p:txBody>
          <a:bodyPr spcFirstLastPara="1" wrap="square" lIns="91425" tIns="45700" rIns="91425" bIns="45700" anchor="t" anchorCtr="0">
            <a:normAutofit fontScale="92500" lnSpcReduction="10000"/>
          </a:bodyPr>
          <a:lstStyle/>
          <a:p>
            <a:pPr marL="0" indent="0">
              <a:spcBef>
                <a:spcPts val="0"/>
              </a:spcBef>
              <a:buNone/>
            </a:pPr>
            <a:r>
              <a:rPr lang="en-US" b="1" i="0" dirty="0">
                <a:effectLst/>
                <a:latin typeface="quote-cjk-patch"/>
              </a:rPr>
              <a:t>Semi-Supervised Learning</a:t>
            </a:r>
            <a:r>
              <a:rPr lang="en-US" b="0" i="0" dirty="0">
                <a:effectLst/>
                <a:latin typeface="quote-cjk-patch"/>
              </a:rPr>
              <a:t> achieved </a:t>
            </a:r>
            <a:r>
              <a:rPr lang="en-US" b="1" i="0" dirty="0">
                <a:effectLst/>
                <a:latin typeface="quote-cjk-patch"/>
              </a:rPr>
              <a:t>F1 = 0.83</a:t>
            </a:r>
            <a:r>
              <a:rPr lang="en-US" b="0" i="0" dirty="0">
                <a:effectLst/>
                <a:latin typeface="quote-cjk-patch"/>
              </a:rPr>
              <a:t> – outperforming fully supervised methods</a:t>
            </a:r>
          </a:p>
          <a:p>
            <a:pPr marL="0" indent="0">
              <a:spcBef>
                <a:spcPts val="0"/>
              </a:spcBef>
              <a:buNone/>
            </a:pPr>
            <a:r>
              <a:rPr lang="en-US" dirty="0">
                <a:latin typeface="quote-cjk-patch"/>
              </a:rPr>
              <a:t>Cost efficiency </a:t>
            </a:r>
            <a:r>
              <a:rPr lang="en-US" b="1" i="0" dirty="0">
                <a:effectLst/>
                <a:latin typeface="quote-cjk-patch"/>
              </a:rPr>
              <a:t>80% reduction</a:t>
            </a:r>
            <a:r>
              <a:rPr lang="en-US" b="0" i="0" dirty="0">
                <a:effectLst/>
                <a:latin typeface="quote-cjk-patch"/>
              </a:rPr>
              <a:t> in labeled data required</a:t>
            </a:r>
            <a:endParaRPr lang="en-US" dirty="0">
              <a:latin typeface="quote-cjk-patch"/>
            </a:endParaRPr>
          </a:p>
          <a:p>
            <a:pPr marL="0" indent="0">
              <a:spcBef>
                <a:spcPts val="0"/>
              </a:spcBef>
              <a:buNone/>
            </a:pPr>
            <a:r>
              <a:rPr lang="en-US" dirty="0">
                <a:latin typeface="quote-cjk-patch"/>
              </a:rPr>
              <a:t>Top predictors </a:t>
            </a:r>
            <a:r>
              <a:rPr lang="en-US" b="1" i="0" dirty="0">
                <a:effectLst/>
                <a:latin typeface="quote-cjk-patch"/>
              </a:rPr>
              <a:t>rururb</a:t>
            </a:r>
            <a:r>
              <a:rPr lang="en-US" b="0" i="0" dirty="0">
                <a:effectLst/>
                <a:latin typeface="quote-cjk-patch"/>
              </a:rPr>
              <a:t> (40%), </a:t>
            </a:r>
            <a:r>
              <a:rPr lang="en-US" b="1" i="0" dirty="0">
                <a:effectLst/>
                <a:latin typeface="quote-cjk-patch"/>
              </a:rPr>
              <a:t>phone</a:t>
            </a:r>
            <a:r>
              <a:rPr lang="en-US" b="0" i="0" dirty="0">
                <a:effectLst/>
                <a:latin typeface="quote-cjk-patch"/>
              </a:rPr>
              <a:t> (24%), </a:t>
            </a:r>
            <a:r>
              <a:rPr lang="en-US" b="1" i="0" dirty="0">
                <a:effectLst/>
                <a:latin typeface="quote-cjk-patch"/>
              </a:rPr>
              <a:t>computer</a:t>
            </a:r>
            <a:r>
              <a:rPr lang="en-US" b="0" i="0" dirty="0">
                <a:effectLst/>
                <a:latin typeface="quote-cjk-patch"/>
              </a:rPr>
              <a:t> (16%) explain </a:t>
            </a:r>
            <a:r>
              <a:rPr lang="en-US" b="1" i="0" dirty="0">
                <a:effectLst/>
                <a:latin typeface="quote-cjk-patch"/>
              </a:rPr>
              <a:t>&gt;80%</a:t>
            </a:r>
            <a:r>
              <a:rPr lang="en-US" b="0" i="0" dirty="0">
                <a:effectLst/>
                <a:latin typeface="quote-cjk-patch"/>
              </a:rPr>
              <a:t> of predictive power</a:t>
            </a:r>
          </a:p>
          <a:p>
            <a:pPr marL="0" indent="0">
              <a:spcBef>
                <a:spcPts val="0"/>
              </a:spcBef>
              <a:buNone/>
            </a:pPr>
            <a:r>
              <a:rPr lang="en-US" dirty="0">
                <a:latin typeface="quote-cjk-patch"/>
              </a:rPr>
              <a:t>Digital segments </a:t>
            </a:r>
            <a:r>
              <a:rPr lang="en-US" b="1" i="0" dirty="0">
                <a:effectLst/>
                <a:latin typeface="quote-cjk-patch"/>
              </a:rPr>
              <a:t>60%</a:t>
            </a:r>
            <a:r>
              <a:rPr lang="en-US" b="0" i="0" dirty="0">
                <a:effectLst/>
                <a:latin typeface="quote-cjk-patch"/>
              </a:rPr>
              <a:t> Digitally Excluded, </a:t>
            </a:r>
            <a:r>
              <a:rPr lang="en-US" b="1" i="0" dirty="0">
                <a:effectLst/>
                <a:latin typeface="quote-cjk-patch"/>
              </a:rPr>
              <a:t>25%</a:t>
            </a:r>
            <a:r>
              <a:rPr lang="en-US" b="0" i="0" dirty="0">
                <a:effectLst/>
                <a:latin typeface="quote-cjk-patch"/>
              </a:rPr>
              <a:t> Emerging Digital, </a:t>
            </a:r>
            <a:r>
              <a:rPr lang="en-US" b="1" i="0" dirty="0">
                <a:effectLst/>
                <a:latin typeface="quote-cjk-patch"/>
              </a:rPr>
              <a:t>15%</a:t>
            </a:r>
            <a:r>
              <a:rPr lang="en-US" b="0" i="0" dirty="0">
                <a:effectLst/>
                <a:latin typeface="quote-cjk-patch"/>
              </a:rPr>
              <a:t> Digitally Included</a:t>
            </a:r>
          </a:p>
          <a:p>
            <a:pPr marL="0" indent="0">
              <a:spcBef>
                <a:spcPts val="0"/>
              </a:spcBef>
              <a:buNone/>
            </a:pPr>
            <a:r>
              <a:rPr lang="en-US" b="1" i="0" dirty="0">
                <a:effectLst/>
                <a:latin typeface="quote-cjk-patch"/>
              </a:rPr>
              <a:t>We developed</a:t>
            </a:r>
            <a:r>
              <a:rPr lang="en-US" b="0" i="0" dirty="0">
                <a:effectLst/>
                <a:latin typeface="quote-cjk-patch"/>
              </a:rPr>
              <a:t> the first ML study of Uganda internet access using </a:t>
            </a:r>
            <a:r>
              <a:rPr lang="en-US" b="1" i="0" dirty="0">
                <a:effectLst/>
                <a:latin typeface="quote-cjk-patch"/>
              </a:rPr>
              <a:t>3.5M census records</a:t>
            </a:r>
            <a:endParaRPr lang="en-US" dirty="0">
              <a:latin typeface="quote-cjk-patch"/>
            </a:endParaRPr>
          </a:p>
          <a:p>
            <a:pPr marL="0" indent="0">
              <a:spcBef>
                <a:spcPts val="0"/>
              </a:spcBef>
              <a:buNone/>
            </a:pPr>
            <a:r>
              <a:rPr lang="en-US" b="1" i="0" dirty="0">
                <a:effectLst/>
                <a:latin typeface="quote-cjk-patch"/>
              </a:rPr>
              <a:t>We compared four paradigms</a:t>
            </a:r>
            <a:r>
              <a:rPr lang="en-US" b="0" i="0" dirty="0">
                <a:effectLst/>
                <a:latin typeface="quote-cjk-patch"/>
              </a:rPr>
              <a:t> on identical data – semi-supervised proved optimal</a:t>
            </a:r>
          </a:p>
          <a:p>
            <a:pPr marL="0" indent="0">
              <a:spcBef>
                <a:spcPts val="0"/>
              </a:spcBef>
              <a:buNone/>
            </a:pPr>
            <a:endParaRPr lang="en-US" dirty="0">
              <a:latin typeface="quote-cjk-patch"/>
            </a:endParaRPr>
          </a:p>
          <a:p>
            <a:pPr marL="0" indent="0">
              <a:spcBef>
                <a:spcPts val="0"/>
              </a:spcBef>
              <a:buNone/>
            </a:pPr>
            <a:endParaRPr dirty="0"/>
          </a:p>
        </p:txBody>
      </p:sp>
      <p:sp>
        <p:nvSpPr>
          <p:cNvPr id="2" name="Google Shape;160;p11">
            <a:extLst>
              <a:ext uri="{FF2B5EF4-FFF2-40B4-BE49-F238E27FC236}">
                <a16:creationId xmlns:a16="http://schemas.microsoft.com/office/drawing/2014/main" id="{F8D08623-4698-3D9C-4B3E-E30D02782B83}"/>
              </a:ext>
            </a:extLst>
          </p:cNvPr>
          <p:cNvSpPr txBox="1">
            <a:spLocks/>
          </p:cNvSpPr>
          <p:nvPr/>
        </p:nvSpPr>
        <p:spPr>
          <a:xfrm>
            <a:off x="6410132" y="1489644"/>
            <a:ext cx="5539273" cy="5127315"/>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spcBef>
                <a:spcPts val="0"/>
              </a:spcBef>
              <a:buNone/>
            </a:pPr>
            <a:r>
              <a:rPr lang="en-US" b="1" i="0" dirty="0">
                <a:effectLst/>
                <a:latin typeface="quote-cjk-patch"/>
              </a:rPr>
              <a:t>Data Age (2014) may not reflect current connectivity </a:t>
            </a:r>
          </a:p>
          <a:p>
            <a:pPr marL="0" indent="0">
              <a:spcBef>
                <a:spcPts val="0"/>
              </a:spcBef>
              <a:buNone/>
            </a:pPr>
            <a:r>
              <a:rPr lang="en-US" b="1" dirty="0">
                <a:latin typeface="quote-cjk-patch"/>
              </a:rPr>
              <a:t>Sample size </a:t>
            </a:r>
            <a:r>
              <a:rPr lang="en-US" b="0" i="0" dirty="0">
                <a:effectLst/>
                <a:latin typeface="quote-cjk-patch"/>
              </a:rPr>
              <a:t>Used 100k-200k rows vs full 3.5M</a:t>
            </a:r>
            <a:endParaRPr lang="en-US" b="1" i="0" dirty="0">
              <a:effectLst/>
              <a:latin typeface="quote-cjk-patch"/>
            </a:endParaRPr>
          </a:p>
          <a:p>
            <a:pPr marL="0" indent="0">
              <a:spcBef>
                <a:spcPts val="0"/>
              </a:spcBef>
              <a:buNone/>
            </a:pPr>
            <a:r>
              <a:rPr lang="en-US" b="1" dirty="0">
                <a:latin typeface="quote-cjk-patch"/>
              </a:rPr>
              <a:t>Computational constraints </a:t>
            </a:r>
            <a:r>
              <a:rPr lang="en-US" b="0" i="0" dirty="0">
                <a:effectLst/>
                <a:latin typeface="quote-cjk-patch"/>
              </a:rPr>
              <a:t>Memory limited full-dataset processing</a:t>
            </a:r>
          </a:p>
          <a:p>
            <a:pPr marL="0" indent="0">
              <a:spcBef>
                <a:spcPts val="0"/>
              </a:spcBef>
              <a:buNone/>
            </a:pPr>
            <a:r>
              <a:rPr lang="en-US" b="0" i="0" dirty="0">
                <a:effectLst/>
                <a:latin typeface="quote-cjk-patch"/>
              </a:rPr>
              <a:t>  </a:t>
            </a:r>
          </a:p>
          <a:p>
            <a:pPr marL="0" indent="0">
              <a:spcBef>
                <a:spcPts val="0"/>
              </a:spcBef>
              <a:buNone/>
            </a:pPr>
            <a:endParaRPr lang="en-US" b="0" i="0" dirty="0">
              <a:effectLst/>
              <a:latin typeface="quote-cjk-patch"/>
            </a:endParaRPr>
          </a:p>
        </p:txBody>
      </p:sp>
    </p:spTree>
    <p:extLst>
      <p:ext uri="{BB962C8B-B14F-4D97-AF65-F5344CB8AC3E}">
        <p14:creationId xmlns:p14="http://schemas.microsoft.com/office/powerpoint/2010/main" val="2369580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8E67-871C-4360-BCB4-37034CF3A527}"/>
              </a:ext>
            </a:extLst>
          </p:cNvPr>
          <p:cNvSpPr>
            <a:spLocks noGrp="1"/>
          </p:cNvSpPr>
          <p:nvPr>
            <p:ph type="title"/>
          </p:nvPr>
        </p:nvSpPr>
        <p:spPr>
          <a:xfrm>
            <a:off x="1484311" y="685801"/>
            <a:ext cx="10018713" cy="1127234"/>
          </a:xfrm>
        </p:spPr>
        <p:txBody>
          <a:bodyPr/>
          <a:lstStyle/>
          <a:p>
            <a:r>
              <a:rPr lang="en-US" dirty="0"/>
              <a:t>LIMITATIONS</a:t>
            </a:r>
          </a:p>
        </p:txBody>
      </p:sp>
      <p:sp>
        <p:nvSpPr>
          <p:cNvPr id="3" name="Content Placeholder 2">
            <a:extLst>
              <a:ext uri="{FF2B5EF4-FFF2-40B4-BE49-F238E27FC236}">
                <a16:creationId xmlns:a16="http://schemas.microsoft.com/office/drawing/2014/main" id="{69BAB7AE-1220-44AD-9B21-CD885C261847}"/>
              </a:ext>
            </a:extLst>
          </p:cNvPr>
          <p:cNvSpPr>
            <a:spLocks noGrp="1"/>
          </p:cNvSpPr>
          <p:nvPr>
            <p:ph idx="1"/>
          </p:nvPr>
        </p:nvSpPr>
        <p:spPr>
          <a:xfrm>
            <a:off x="1484310" y="1576553"/>
            <a:ext cx="10018713" cy="4214648"/>
          </a:xfrm>
        </p:spPr>
        <p:txBody>
          <a:bodyPr/>
          <a:lstStyle/>
          <a:p>
            <a:pPr marL="0" indent="0">
              <a:buNone/>
            </a:pPr>
            <a:r>
              <a:rPr lang="en-US" b="1" dirty="0"/>
              <a:t>Data:</a:t>
            </a:r>
            <a:r>
              <a:rPr lang="en-US" dirty="0"/>
              <a:t> Outdated, self-reported, missing values → mitigated with imputation &amp; PU learning</a:t>
            </a:r>
          </a:p>
          <a:p>
            <a:pPr marL="0" indent="0">
              <a:buNone/>
            </a:pPr>
            <a:r>
              <a:rPr lang="en-US" b="1" dirty="0"/>
              <a:t>Methodological:</a:t>
            </a:r>
            <a:r>
              <a:rPr lang="en-US" dirty="0"/>
              <a:t> Class imbalance &amp; model assumptions → mitigated with SMOTE &amp; PU Bagging</a:t>
            </a:r>
          </a:p>
          <a:p>
            <a:pPr marL="0" indent="0">
              <a:buNone/>
            </a:pPr>
            <a:r>
              <a:rPr lang="en-US" b="1" dirty="0"/>
              <a:t>Computational:</a:t>
            </a:r>
            <a:r>
              <a:rPr lang="en-US" dirty="0"/>
              <a:t> High resource usage → mitigated with optimization techniques</a:t>
            </a:r>
          </a:p>
          <a:p>
            <a:pPr marL="0" indent="0">
              <a:buNone/>
            </a:pPr>
            <a:r>
              <a:rPr lang="en-US" b="1" dirty="0"/>
              <a:t>Generalizability:</a:t>
            </a:r>
            <a:r>
              <a:rPr lang="en-US" dirty="0"/>
              <a:t> Limited to region/time → method still transferable</a:t>
            </a:r>
          </a:p>
          <a:p>
            <a:pPr marL="0" indent="0">
              <a:buNone/>
            </a:pPr>
            <a:r>
              <a:rPr lang="en-US" b="1" dirty="0"/>
              <a:t>Evaluation:</a:t>
            </a:r>
            <a:r>
              <a:rPr lang="en-US" dirty="0"/>
              <a:t> No external validation → handled with cross-validation</a:t>
            </a:r>
          </a:p>
        </p:txBody>
      </p:sp>
      <p:sp>
        <p:nvSpPr>
          <p:cNvPr id="4" name="Slide Number Placeholder 3">
            <a:extLst>
              <a:ext uri="{FF2B5EF4-FFF2-40B4-BE49-F238E27FC236}">
                <a16:creationId xmlns:a16="http://schemas.microsoft.com/office/drawing/2014/main" id="{83C75EFD-B786-414D-A42D-4FB13C607249}"/>
              </a:ext>
            </a:extLst>
          </p:cNvPr>
          <p:cNvSpPr>
            <a:spLocks noGrp="1"/>
          </p:cNvSpPr>
          <p:nvPr>
            <p:ph type="sldNum" sz="quarter" idx="12"/>
          </p:nvPr>
        </p:nvSpPr>
        <p:spPr/>
        <p:txBody>
          <a:bodyPr/>
          <a:lstStyle/>
          <a:p>
            <a:fld id="{0428C338-E682-4B46-9632-D57B5813D090}" type="slidenum">
              <a:rPr lang="en-US" smtClean="0"/>
              <a:t>59</a:t>
            </a:fld>
            <a:endParaRPr lang="en-US"/>
          </a:p>
        </p:txBody>
      </p:sp>
    </p:spTree>
    <p:extLst>
      <p:ext uri="{BB962C8B-B14F-4D97-AF65-F5344CB8AC3E}">
        <p14:creationId xmlns:p14="http://schemas.microsoft.com/office/powerpoint/2010/main" val="10119669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AEF14-2E15-418D-86BC-798A57EA602E}"/>
              </a:ext>
            </a:extLst>
          </p:cNvPr>
          <p:cNvSpPr>
            <a:spLocks noGrp="1"/>
          </p:cNvSpPr>
          <p:nvPr>
            <p:ph type="title"/>
          </p:nvPr>
        </p:nvSpPr>
        <p:spPr/>
        <p:txBody>
          <a:bodyPr/>
          <a:lstStyle/>
          <a:p>
            <a:r>
              <a:rPr lang="en-US" dirty="0"/>
              <a:t>FUTURE WORK TO ADDRESS LIMITATIONS</a:t>
            </a:r>
          </a:p>
        </p:txBody>
      </p:sp>
      <p:sp>
        <p:nvSpPr>
          <p:cNvPr id="3" name="Content Placeholder 2">
            <a:extLst>
              <a:ext uri="{FF2B5EF4-FFF2-40B4-BE49-F238E27FC236}">
                <a16:creationId xmlns:a16="http://schemas.microsoft.com/office/drawing/2014/main" id="{D91FD18E-84FE-4BF6-A882-46BAE1D50EC3}"/>
              </a:ext>
            </a:extLst>
          </p:cNvPr>
          <p:cNvSpPr>
            <a:spLocks noGrp="1"/>
          </p:cNvSpPr>
          <p:nvPr>
            <p:ph idx="1"/>
          </p:nvPr>
        </p:nvSpPr>
        <p:spPr/>
        <p:txBody>
          <a:bodyPr>
            <a:normAutofit fontScale="92500" lnSpcReduction="10000"/>
          </a:bodyPr>
          <a:lstStyle/>
          <a:p>
            <a:r>
              <a:rPr lang="en-US" b="1" dirty="0"/>
              <a:t>Data Age:</a:t>
            </a:r>
            <a:r>
              <a:rPr lang="en-US" dirty="0"/>
              <a:t> Apply methodology to newer datasets (e.g., 2024 census) and conduct longitudinal analysis</a:t>
            </a:r>
          </a:p>
          <a:p>
            <a:r>
              <a:rPr lang="en-US" b="1" dirty="0"/>
              <a:t>Self-Reporting Bias:</a:t>
            </a:r>
            <a:r>
              <a:rPr lang="en-US" dirty="0"/>
              <a:t> Integrate mobile operator data to improve ground-truth validation</a:t>
            </a:r>
          </a:p>
          <a:p>
            <a:r>
              <a:rPr lang="en-US" b="1" dirty="0"/>
              <a:t>Missing Regional Data:</a:t>
            </a:r>
            <a:r>
              <a:rPr lang="en-US" dirty="0"/>
              <a:t> Collect or derive sub-national development indicators for richer features</a:t>
            </a:r>
          </a:p>
          <a:p>
            <a:r>
              <a:rPr lang="en-US" b="1" dirty="0"/>
              <a:t>Computational Constraints:</a:t>
            </a:r>
            <a:r>
              <a:rPr lang="en-US" dirty="0"/>
              <a:t> Utilize cloud computing and GPU acceleration for large-scale processing</a:t>
            </a:r>
          </a:p>
          <a:p>
            <a:endParaRPr lang="en-US" dirty="0"/>
          </a:p>
        </p:txBody>
      </p:sp>
      <p:sp>
        <p:nvSpPr>
          <p:cNvPr id="4" name="Slide Number Placeholder 3">
            <a:extLst>
              <a:ext uri="{FF2B5EF4-FFF2-40B4-BE49-F238E27FC236}">
                <a16:creationId xmlns:a16="http://schemas.microsoft.com/office/drawing/2014/main" id="{DFC34320-907B-479B-A6F3-697B0BB90DAD}"/>
              </a:ext>
            </a:extLst>
          </p:cNvPr>
          <p:cNvSpPr>
            <a:spLocks noGrp="1"/>
          </p:cNvSpPr>
          <p:nvPr>
            <p:ph type="sldNum" sz="quarter" idx="12"/>
          </p:nvPr>
        </p:nvSpPr>
        <p:spPr/>
        <p:txBody>
          <a:bodyPr/>
          <a:lstStyle/>
          <a:p>
            <a:fld id="{0428C338-E682-4B46-9632-D57B5813D090}" type="slidenum">
              <a:rPr lang="en-US" smtClean="0"/>
              <a:t>60</a:t>
            </a:fld>
            <a:endParaRPr lang="en-US"/>
          </a:p>
        </p:txBody>
      </p:sp>
    </p:spTree>
    <p:extLst>
      <p:ext uri="{BB962C8B-B14F-4D97-AF65-F5344CB8AC3E}">
        <p14:creationId xmlns:p14="http://schemas.microsoft.com/office/powerpoint/2010/main" val="20939987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AE098-1F2D-4AE1-B89B-C7C4202344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43EA32-2F63-4450-A706-CF5A7C228DD5}"/>
              </a:ext>
            </a:extLst>
          </p:cNvPr>
          <p:cNvSpPr>
            <a:spLocks noGrp="1"/>
          </p:cNvSpPr>
          <p:nvPr>
            <p:ph idx="1"/>
          </p:nvPr>
        </p:nvSpPr>
        <p:spPr/>
        <p:txBody>
          <a:bodyPr/>
          <a:lstStyle/>
          <a:p>
            <a:r>
              <a:rPr lang="en-US" b="0" i="0" dirty="0">
                <a:effectLst/>
                <a:latin typeface="quote-cjk-patch"/>
              </a:rPr>
              <a:t>Despite these limitations, the multi‑paradigm approach provides a </a:t>
            </a:r>
            <a:r>
              <a:rPr lang="en-US" b="1" i="0" dirty="0">
                <a:effectLst/>
                <a:latin typeface="quote-cjk-patch"/>
              </a:rPr>
              <a:t>methodologically rigorous</a:t>
            </a:r>
            <a:r>
              <a:rPr lang="en-US" b="0" i="0" dirty="0">
                <a:effectLst/>
                <a:latin typeface="quote-cjk-patch"/>
              </a:rPr>
              <a:t> and </a:t>
            </a:r>
            <a:r>
              <a:rPr lang="en-US" b="1" i="0" dirty="0">
                <a:effectLst/>
                <a:latin typeface="quote-cjk-patch"/>
              </a:rPr>
              <a:t>practically actionable</a:t>
            </a:r>
            <a:r>
              <a:rPr lang="en-US" b="0" i="0" dirty="0">
                <a:effectLst/>
                <a:latin typeface="quote-cjk-patch"/>
              </a:rPr>
              <a:t> framework for understanding Uganda's digital divide. The consistency across models and the alignment of feature importance with domain knowledge support the validity of our findings.</a:t>
            </a:r>
            <a:endParaRPr lang="en-US" dirty="0"/>
          </a:p>
        </p:txBody>
      </p:sp>
      <p:sp>
        <p:nvSpPr>
          <p:cNvPr id="4" name="Slide Number Placeholder 3">
            <a:extLst>
              <a:ext uri="{FF2B5EF4-FFF2-40B4-BE49-F238E27FC236}">
                <a16:creationId xmlns:a16="http://schemas.microsoft.com/office/drawing/2014/main" id="{00E9487B-F594-49B8-A27F-3C5D5624C355}"/>
              </a:ext>
            </a:extLst>
          </p:cNvPr>
          <p:cNvSpPr>
            <a:spLocks noGrp="1"/>
          </p:cNvSpPr>
          <p:nvPr>
            <p:ph type="sldNum" sz="quarter" idx="12"/>
          </p:nvPr>
        </p:nvSpPr>
        <p:spPr/>
        <p:txBody>
          <a:bodyPr/>
          <a:lstStyle/>
          <a:p>
            <a:fld id="{0428C338-E682-4B46-9632-D57B5813D090}" type="slidenum">
              <a:rPr lang="en-US" smtClean="0"/>
              <a:t>61</a:t>
            </a:fld>
            <a:endParaRPr lang="en-US"/>
          </a:p>
        </p:txBody>
      </p:sp>
    </p:spTree>
    <p:extLst>
      <p:ext uri="{BB962C8B-B14F-4D97-AF65-F5344CB8AC3E}">
        <p14:creationId xmlns:p14="http://schemas.microsoft.com/office/powerpoint/2010/main" val="2537028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5906E-2988-4512-A1AA-A821682F98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8AE16A-5BF2-46A1-B77D-68A8066CCCF2}"/>
              </a:ext>
            </a:extLst>
          </p:cNvPr>
          <p:cNvSpPr>
            <a:spLocks noGrp="1"/>
          </p:cNvSpPr>
          <p:nvPr>
            <p:ph idx="1"/>
          </p:nvPr>
        </p:nvSpPr>
        <p:spPr/>
        <p:txBody>
          <a:bodyPr/>
          <a:lstStyle/>
          <a:p>
            <a:pPr marL="0" indent="0">
              <a:buNone/>
            </a:pPr>
            <a:r>
              <a:rPr lang="en-US" b="1" i="0" dirty="0">
                <a:effectLst/>
                <a:latin typeface="quote-cjk-patch"/>
              </a:rPr>
              <a:t>This multi-paradigm ML study provides the first comprehensive, data-driven understanding of Uganda's digital divide. By demonstrating that semi-supervised learning can achieve superior results with minimal labeled data, we offer a cost-effective blueprint for evidence-based policymaking  ultimately helping bridge the connectivity gap for the 60% of Ugandans currently excluded from the digital economy.</a:t>
            </a:r>
            <a:endParaRPr lang="en-US" dirty="0"/>
          </a:p>
        </p:txBody>
      </p:sp>
      <p:sp>
        <p:nvSpPr>
          <p:cNvPr id="4" name="Slide Number Placeholder 3">
            <a:extLst>
              <a:ext uri="{FF2B5EF4-FFF2-40B4-BE49-F238E27FC236}">
                <a16:creationId xmlns:a16="http://schemas.microsoft.com/office/drawing/2014/main" id="{AFBF0917-EF97-42D6-A396-4E316CA3FD89}"/>
              </a:ext>
            </a:extLst>
          </p:cNvPr>
          <p:cNvSpPr>
            <a:spLocks noGrp="1"/>
          </p:cNvSpPr>
          <p:nvPr>
            <p:ph type="sldNum" sz="quarter" idx="12"/>
          </p:nvPr>
        </p:nvSpPr>
        <p:spPr/>
        <p:txBody>
          <a:bodyPr>
            <a:normAutofit/>
          </a:bodyPr>
          <a:lstStyle/>
          <a:p>
            <a:fld id="{0428C338-E682-4B46-9632-D57B5813D090}" type="slidenum">
              <a:rPr lang="en-US" smtClean="0"/>
              <a:t>62</a:t>
            </a:fld>
            <a:endParaRPr lang="en-US"/>
          </a:p>
        </p:txBody>
      </p:sp>
    </p:spTree>
    <p:extLst>
      <p:ext uri="{BB962C8B-B14F-4D97-AF65-F5344CB8AC3E}">
        <p14:creationId xmlns:p14="http://schemas.microsoft.com/office/powerpoint/2010/main" val="395323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3" name="Title 2">
            <a:extLst>
              <a:ext uri="{FF2B5EF4-FFF2-40B4-BE49-F238E27FC236}">
                <a16:creationId xmlns:a16="http://schemas.microsoft.com/office/drawing/2014/main" id="{C8999110-3841-4DF0-A94B-306BCD184748}"/>
              </a:ext>
            </a:extLst>
          </p:cNvPr>
          <p:cNvSpPr>
            <a:spLocks noGrp="1"/>
          </p:cNvSpPr>
          <p:nvPr>
            <p:ph type="title"/>
          </p:nvPr>
        </p:nvSpPr>
        <p:spPr>
          <a:xfrm>
            <a:off x="1024128" y="585216"/>
            <a:ext cx="9720072" cy="1227818"/>
          </a:xfrm>
        </p:spPr>
        <p:txBody>
          <a:bodyPr>
            <a:normAutofit fontScale="90000"/>
          </a:bodyPr>
          <a:lstStyle/>
          <a:p>
            <a:r>
              <a:rPr lang="en-US" b="0" i="0" dirty="0">
                <a:effectLst/>
                <a:latin typeface="quote-cjk-patch"/>
              </a:rPr>
              <a:t>FUTURE WORK </a:t>
            </a:r>
            <a:br>
              <a:rPr lang="en-US" b="0" i="0" dirty="0">
                <a:effectLst/>
                <a:latin typeface="quote-cjk-patch"/>
              </a:rPr>
            </a:br>
            <a:endParaRPr lang="en-US" dirty="0"/>
          </a:p>
        </p:txBody>
      </p:sp>
      <p:sp>
        <p:nvSpPr>
          <p:cNvPr id="160" name="Google Shape;160;p11"/>
          <p:cNvSpPr txBox="1">
            <a:spLocks noGrp="1"/>
          </p:cNvSpPr>
          <p:nvPr>
            <p:ph idx="1"/>
          </p:nvPr>
        </p:nvSpPr>
        <p:spPr>
          <a:xfrm>
            <a:off x="298581" y="2112578"/>
            <a:ext cx="10935476" cy="4364421"/>
          </a:xfrm>
          <a:prstGeom prst="rect">
            <a:avLst/>
          </a:prstGeom>
          <a:noFill/>
          <a:ln>
            <a:noFill/>
          </a:ln>
        </p:spPr>
        <p:txBody>
          <a:bodyPr spcFirstLastPara="1" wrap="square" lIns="91425" tIns="45700" rIns="91425" bIns="45700" anchor="t" anchorCtr="0">
            <a:normAutofit fontScale="92500" lnSpcReduction="10000"/>
          </a:bodyPr>
          <a:lstStyle/>
          <a:p>
            <a:pPr marL="0" indent="0">
              <a:spcBef>
                <a:spcPts val="0"/>
              </a:spcBef>
              <a:buNone/>
            </a:pPr>
            <a:r>
              <a:rPr lang="en-US" b="0" i="0" dirty="0">
                <a:effectLst/>
                <a:latin typeface="quote-cjk-patch"/>
              </a:rPr>
              <a:t>Explore </a:t>
            </a:r>
            <a:r>
              <a:rPr lang="en-US" b="1" i="0" dirty="0">
                <a:effectLst/>
                <a:latin typeface="quote-cjk-patch"/>
              </a:rPr>
              <a:t>deep learning</a:t>
            </a:r>
            <a:r>
              <a:rPr lang="en-US" b="0" i="0" dirty="0">
                <a:effectLst/>
                <a:latin typeface="quote-cjk-patch"/>
              </a:rPr>
              <a:t> approaches (CNNs on spatial data)</a:t>
            </a:r>
          </a:p>
          <a:p>
            <a:pPr marL="0" indent="0">
              <a:spcBef>
                <a:spcPts val="0"/>
              </a:spcBef>
              <a:buNone/>
            </a:pPr>
            <a:r>
              <a:rPr lang="en-US" b="0" i="0" dirty="0">
                <a:effectLst/>
                <a:latin typeface="quote-cjk-patch"/>
              </a:rPr>
              <a:t>Develop </a:t>
            </a:r>
            <a:r>
              <a:rPr lang="en-US" b="1" i="0" dirty="0">
                <a:effectLst/>
                <a:latin typeface="quote-cjk-patch"/>
              </a:rPr>
              <a:t>interactive dashboard</a:t>
            </a:r>
            <a:r>
              <a:rPr lang="en-US" b="0" i="0" dirty="0">
                <a:effectLst/>
                <a:latin typeface="quote-cjk-patch"/>
              </a:rPr>
              <a:t> for policymakers</a:t>
            </a:r>
          </a:p>
          <a:p>
            <a:pPr marL="0" indent="0">
              <a:spcBef>
                <a:spcPts val="0"/>
              </a:spcBef>
              <a:buNone/>
            </a:pPr>
            <a:r>
              <a:rPr lang="en-US" b="0" i="0" dirty="0">
                <a:effectLst/>
                <a:latin typeface="quote-cjk-patch"/>
              </a:rPr>
              <a:t>Extend study to </a:t>
            </a:r>
            <a:r>
              <a:rPr lang="en-US" b="1" i="0" dirty="0">
                <a:effectLst/>
                <a:latin typeface="quote-cjk-patch"/>
              </a:rPr>
              <a:t>neighboring countries</a:t>
            </a:r>
            <a:r>
              <a:rPr lang="en-US" b="0" i="0" dirty="0">
                <a:effectLst/>
                <a:latin typeface="quote-cjk-patch"/>
              </a:rPr>
              <a:t> for comparative analysis</a:t>
            </a:r>
          </a:p>
          <a:p>
            <a:pPr marL="0" indent="0">
              <a:spcBef>
                <a:spcPts val="0"/>
              </a:spcBef>
              <a:buNone/>
            </a:pPr>
            <a:r>
              <a:rPr lang="en-US" b="0" i="0" dirty="0">
                <a:effectLst/>
                <a:latin typeface="quote-cjk-patch"/>
              </a:rPr>
              <a:t> </a:t>
            </a:r>
          </a:p>
          <a:p>
            <a:pPr marL="0" indent="0">
              <a:spcBef>
                <a:spcPts val="0"/>
              </a:spcBef>
              <a:buNone/>
            </a:pPr>
            <a:r>
              <a:rPr lang="en-US" dirty="0">
                <a:latin typeface="quote-cjk-patch"/>
              </a:rPr>
              <a:t>    Recommendations </a:t>
            </a:r>
            <a:endParaRPr lang="en-US" b="0" i="0" dirty="0">
              <a:effectLst/>
              <a:latin typeface="quote-cjk-patch"/>
            </a:endParaRPr>
          </a:p>
          <a:p>
            <a:pPr marL="0" indent="0">
              <a:buNone/>
            </a:pPr>
            <a:r>
              <a:rPr lang="en-US" b="1" i="0" dirty="0">
                <a:effectLst/>
                <a:latin typeface="quote-cjk-patch"/>
              </a:rPr>
              <a:t>Include satellite imagery</a:t>
            </a:r>
            <a:r>
              <a:rPr lang="en-US" b="0" i="0" dirty="0">
                <a:effectLst/>
                <a:latin typeface="quote-cjk-patch"/>
              </a:rPr>
              <a:t> for infrastructure mapping this is because Could identify unserved areas and predict connectivity from night lights, road networks</a:t>
            </a:r>
          </a:p>
          <a:p>
            <a:pPr marL="0" indent="0">
              <a:buNone/>
            </a:pPr>
            <a:r>
              <a:rPr lang="en-US" b="1" i="0" dirty="0">
                <a:effectLst/>
                <a:latin typeface="quote-cjk-patch"/>
              </a:rPr>
              <a:t>Collect household-level income data</a:t>
            </a:r>
            <a:r>
              <a:rPr lang="en-US" dirty="0">
                <a:latin typeface="quote-cjk-patch"/>
              </a:rPr>
              <a:t> because </a:t>
            </a:r>
            <a:r>
              <a:rPr lang="en-US" b="0" i="0" dirty="0">
                <a:effectLst/>
                <a:latin typeface="quote-cjk-patch"/>
              </a:rPr>
              <a:t>Current proxies (assets, bank accounts) are indirect  direct income would strengthen economic analysis</a:t>
            </a:r>
          </a:p>
          <a:p>
            <a:pPr marL="0" indent="0">
              <a:buNone/>
            </a:pPr>
            <a:r>
              <a:rPr lang="en-US" b="1" i="0" dirty="0">
                <a:effectLst/>
                <a:latin typeface="quote-cjk-patch"/>
              </a:rPr>
              <a:t>Apply models to 2024 census data</a:t>
            </a:r>
            <a:r>
              <a:rPr lang="en-US" b="0" i="0" dirty="0">
                <a:effectLst/>
                <a:latin typeface="quote-cjk-patch"/>
              </a:rPr>
              <a:t> when available</a:t>
            </a:r>
            <a:r>
              <a:rPr lang="en-US" dirty="0">
                <a:latin typeface="quote-cjk-patch"/>
              </a:rPr>
              <a:t> because </a:t>
            </a:r>
            <a:r>
              <a:rPr lang="en-US" b="0" i="0" dirty="0">
                <a:effectLst/>
                <a:latin typeface="quote-cjk-patch"/>
              </a:rPr>
              <a:t>Current data from 2014 update would validate findings and capture recent growth in mobile/internet penetration</a:t>
            </a:r>
          </a:p>
          <a:p>
            <a:pPr marL="0" indent="0">
              <a:buNone/>
            </a:pPr>
            <a:endParaRPr lang="en-US" b="0" i="0" dirty="0">
              <a:effectLst/>
              <a:latin typeface="quote-cjk-patch"/>
            </a:endParaRPr>
          </a:p>
          <a:p>
            <a:pPr marL="0" indent="0">
              <a:buNone/>
            </a:pPr>
            <a:endParaRPr dirty="0"/>
          </a:p>
        </p:txBody>
      </p:sp>
    </p:spTree>
    <p:extLst>
      <p:ext uri="{BB962C8B-B14F-4D97-AF65-F5344CB8AC3E}">
        <p14:creationId xmlns:p14="http://schemas.microsoft.com/office/powerpoint/2010/main" val="1924169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2"/>
          <p:cNvSpPr txBox="1">
            <a:spLocks noGrp="1"/>
          </p:cNvSpPr>
          <p:nvPr>
            <p:ph type="title"/>
          </p:nvPr>
        </p:nvSpPr>
        <p:spPr>
          <a:xfrm>
            <a:off x="1793724" y="696310"/>
            <a:ext cx="8077200" cy="370042"/>
          </a:xfrm>
          <a:prstGeom prst="rect">
            <a:avLst/>
          </a:prstGeom>
          <a:noFill/>
          <a:ln>
            <a:noFill/>
          </a:ln>
        </p:spPr>
        <p:txBody>
          <a:bodyPr spcFirstLastPara="1" wrap="square" lIns="91425" tIns="45700" rIns="91425" bIns="45700" anchor="ctr" anchorCtr="0">
            <a:normAutofit fontScale="90000"/>
          </a:bodyPr>
          <a:lstStyle/>
          <a:p>
            <a:pPr>
              <a:buSzPct val="100000"/>
            </a:pPr>
            <a:r>
              <a:rPr lang="en-US" dirty="0"/>
              <a:t>ACKNOWLEDGEMENTS</a:t>
            </a:r>
          </a:p>
        </p:txBody>
      </p:sp>
      <p:sp>
        <p:nvSpPr>
          <p:cNvPr id="2" name="Google Shape;160;p11">
            <a:extLst>
              <a:ext uri="{FF2B5EF4-FFF2-40B4-BE49-F238E27FC236}">
                <a16:creationId xmlns:a16="http://schemas.microsoft.com/office/drawing/2014/main" id="{81ACA541-4995-B49C-28B3-B761685101A1}"/>
              </a:ext>
            </a:extLst>
          </p:cNvPr>
          <p:cNvSpPr txBox="1">
            <a:spLocks/>
          </p:cNvSpPr>
          <p:nvPr/>
        </p:nvSpPr>
        <p:spPr>
          <a:xfrm>
            <a:off x="602510" y="1466192"/>
            <a:ext cx="11589490" cy="5045387"/>
          </a:xfrm>
          <a:prstGeom prst="rect">
            <a:avLst/>
          </a:prstGeom>
          <a:noFill/>
          <a:ln>
            <a:noFill/>
          </a:ln>
        </p:spPr>
        <p:txBody>
          <a:bodyPr spcFirstLastPara="1" vert="horz" wrap="square" lIns="91425" tIns="45700" rIns="91425" bIns="45700" rtlCol="0" anchor="t" anchorCtr="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0" indent="0" algn="just">
              <a:spcBef>
                <a:spcPts val="0"/>
              </a:spcBef>
              <a:buSzPts val="2600"/>
              <a:buNone/>
            </a:pPr>
            <a:r>
              <a:rPr lang="en-US" dirty="0"/>
              <a:t>I wish to express my sincere gratitude to Dr Marvin </a:t>
            </a:r>
            <a:r>
              <a:rPr lang="en-US" dirty="0" err="1"/>
              <a:t>Garliwango</a:t>
            </a:r>
            <a:r>
              <a:rPr lang="en-US" dirty="0"/>
              <a:t>  for the continuous guidance, invaluable feedback, and unwavering support throughout this research work</a:t>
            </a:r>
          </a:p>
          <a:p>
            <a:pPr marL="0" indent="0" algn="just">
              <a:spcBef>
                <a:spcPts val="0"/>
              </a:spcBef>
              <a:buSzPts val="2600"/>
              <a:buNone/>
            </a:pPr>
            <a:r>
              <a:rPr lang="en-US" dirty="0"/>
              <a:t>Iam thankful to Makerere university </a:t>
            </a:r>
            <a:r>
              <a:rPr lang="en-US" b="0" i="0" dirty="0">
                <a:effectLst/>
                <a:latin typeface="quote-cjk-patch"/>
              </a:rPr>
              <a:t>for providing the resources, environment, and academic freedom to conduct this research</a:t>
            </a:r>
          </a:p>
          <a:p>
            <a:pPr marL="0" indent="0" algn="just">
              <a:spcBef>
                <a:spcPts val="0"/>
              </a:spcBef>
              <a:buSzPts val="2600"/>
              <a:buNone/>
            </a:pPr>
            <a:endParaRPr lang="en-US" dirty="0">
              <a:latin typeface="quote-cjk-patch"/>
            </a:endParaRPr>
          </a:p>
          <a:p>
            <a:pPr marL="0" indent="0" algn="just">
              <a:spcBef>
                <a:spcPts val="0"/>
              </a:spcBef>
              <a:buSzPts val="2600"/>
              <a:buNone/>
            </a:pPr>
            <a:r>
              <a:rPr lang="en-US" b="0" i="0" dirty="0">
                <a:effectLst/>
                <a:latin typeface="quote-cjk-patch"/>
              </a:rPr>
              <a:t>I acknowledge the following organizations for providing data </a:t>
            </a:r>
          </a:p>
          <a:p>
            <a:pPr marL="0" indent="0" algn="just">
              <a:spcBef>
                <a:spcPts val="0"/>
              </a:spcBef>
              <a:buSzPts val="2600"/>
              <a:buNone/>
            </a:pPr>
            <a:r>
              <a:rPr lang="en-US" b="0" i="0" dirty="0">
                <a:effectLst/>
                <a:latin typeface="quote-cjk-patch"/>
              </a:rPr>
              <a:t> Uganda Bureau of statistics ,for the national population and housing census 2014 10% sample </a:t>
            </a:r>
          </a:p>
          <a:p>
            <a:pPr marL="0" indent="0" algn="just">
              <a:spcBef>
                <a:spcPts val="0"/>
              </a:spcBef>
              <a:buSzPts val="2600"/>
              <a:buNone/>
            </a:pPr>
            <a:r>
              <a:rPr lang="en-US" dirty="0">
                <a:latin typeface="quote-cjk-patch"/>
              </a:rPr>
              <a:t>United nations development program human development report office </a:t>
            </a:r>
          </a:p>
          <a:p>
            <a:pPr marL="0" indent="0" algn="just">
              <a:spcBef>
                <a:spcPts val="0"/>
              </a:spcBef>
              <a:buSzPts val="2600"/>
              <a:buNone/>
            </a:pPr>
            <a:r>
              <a:rPr lang="en-US" dirty="0">
                <a:latin typeface="quote-cjk-patch"/>
              </a:rPr>
              <a:t>For the HDRO indicators dataset</a:t>
            </a:r>
          </a:p>
          <a:p>
            <a:pPr marL="0" indent="0" algn="just">
              <a:spcBef>
                <a:spcPts val="0"/>
              </a:spcBef>
              <a:buSzPts val="2600"/>
              <a:buNone/>
            </a:pPr>
            <a:r>
              <a:rPr lang="en-US" b="0" i="1" dirty="0">
                <a:effectLst/>
                <a:latin typeface="quote-cjk-patch"/>
              </a:rPr>
              <a:t>This work would not have been possible without the collective support of all mentioned above. Any errors or omissions remain our  own.</a:t>
            </a:r>
            <a:endParaRPr lang="en-US" dirty="0">
              <a:latin typeface="quote-cjk-patch"/>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1004</TotalTime>
  <Words>2717</Words>
  <Application>Microsoft Office PowerPoint</Application>
  <PresentationFormat>Widescreen</PresentationFormat>
  <Paragraphs>322</Paragraphs>
  <Slides>64</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Calibri</vt:lpstr>
      <vt:lpstr>Consolas</vt:lpstr>
      <vt:lpstr>Corbel</vt:lpstr>
      <vt:lpstr>Helvetica</vt:lpstr>
      <vt:lpstr>Menlo</vt:lpstr>
      <vt:lpstr>quote-cjk-patch</vt:lpstr>
      <vt:lpstr>Times New Roman</vt:lpstr>
      <vt:lpstr>Tw Cen MT</vt:lpstr>
      <vt:lpstr>Parallax</vt:lpstr>
      <vt:lpstr>Department of Computer Science, COCIS Makerere University Supervisor: Ggaliwango Marvin</vt:lpstr>
      <vt:lpstr>Contents of Presentation</vt:lpstr>
      <vt:lpstr>BACKGROUND</vt:lpstr>
      <vt:lpstr> INTRODUCTION</vt:lpstr>
      <vt:lpstr>CORE CONCEPTS THAT DETERMINE INTERNET ACCESS</vt:lpstr>
      <vt:lpstr>Problem Statements</vt:lpstr>
      <vt:lpstr>Objectives and future trends </vt:lpstr>
      <vt:lpstr>Research Contributions &amp; outputs</vt:lpstr>
      <vt:lpstr>METHODOLOGY</vt:lpstr>
      <vt:lpstr>DATASET DESCRIPTION</vt:lpstr>
      <vt:lpstr>EXPLORATORY DATA ANALYSIS</vt:lpstr>
      <vt:lpstr>VISUALIZATIONS </vt:lpstr>
      <vt:lpstr>Bivariate analysis</vt:lpstr>
      <vt:lpstr>A BAR GRAPH SHOWING INTERNET ACCESS BY LITERACY STATUS AND BOX PLOT SHOWING EDUCATION LEVEL INLINE WITH INTERNET ACCESS</vt:lpstr>
      <vt:lpstr>A BAR GRAPH SHOWING INTERNET ACCESS BY SEX</vt:lpstr>
      <vt:lpstr>A BAR GRAPH SHOWING INTERNET ACCESS BY REGION</vt:lpstr>
      <vt:lpstr>A HEATMAP SHOWING CORRELATION OF ALL FEATURES </vt:lpstr>
      <vt:lpstr>A BAR GRAPH SHOWING FEATURE CORRELATION WITH INTERNET ACCESS</vt:lpstr>
      <vt:lpstr>A BAR GRAPH SHOWING INTERNET ACCESS BY TECHNOLOGY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COMPARATIVE ANALYSIS </vt:lpstr>
      <vt:lpstr>PowerPoint Presentation</vt:lpstr>
      <vt:lpstr>PowerPoint Presentation</vt:lpstr>
      <vt:lpstr>MODEL SELECTION AND DEPLOYMENT</vt:lpstr>
      <vt:lpstr>NEURAL NETWORKS </vt:lpstr>
      <vt:lpstr>THE NEURAL NETWORK MODEL PERFORMANCE</vt:lpstr>
      <vt:lpstr>OBSERVATIONS</vt:lpstr>
      <vt:lpstr>XGBOOST </vt:lpstr>
      <vt:lpstr>TRAINING OF THE MODEL</vt:lpstr>
      <vt:lpstr>FEATURE PERFORMANCE</vt:lpstr>
      <vt:lpstr>ROC CURVE</vt:lpstr>
      <vt:lpstr>OBSERVATION</vt:lpstr>
      <vt:lpstr>LIGHTGBM LIGHT GRADIENT BOOSTING MACHINE</vt:lpstr>
      <vt:lpstr>TRAINING THE MODEL </vt:lpstr>
      <vt:lpstr>OBSERVATION</vt:lpstr>
      <vt:lpstr>FEATURE PERFORMANCE</vt:lpstr>
      <vt:lpstr>PowerPoint Presentation</vt:lpstr>
      <vt:lpstr>CATBOOST (CATEGORICAL BOOSTING) </vt:lpstr>
      <vt:lpstr>TRAINING THE MODEL</vt:lpstr>
      <vt:lpstr>OBSERVATION</vt:lpstr>
      <vt:lpstr>PowerPoint Presentation</vt:lpstr>
      <vt:lpstr>FEATURE IMPORTANCE </vt:lpstr>
      <vt:lpstr>MODEL DEPLOYMENT</vt:lpstr>
      <vt:lpstr>PowerPoint Presentation</vt:lpstr>
      <vt:lpstr>DEPLOYMENT ARCHITECTURE</vt:lpstr>
      <vt:lpstr>TECHNOLOGY STACK</vt:lpstr>
      <vt:lpstr>DEPLOYMENT FLOW</vt:lpstr>
      <vt:lpstr>STRUCTURE</vt:lpstr>
      <vt:lpstr>FEATURE DESCRIPTION</vt:lpstr>
      <vt:lpstr>PowerPoint Presentation</vt:lpstr>
      <vt:lpstr>RUNNING THE APPLICATION</vt:lpstr>
      <vt:lpstr>CONCLUSIONS AND LIMITATIONS</vt:lpstr>
      <vt:lpstr>LIMITATIONS</vt:lpstr>
      <vt:lpstr>FUTURE WORK TO ADDRESS LIMITATIONS</vt:lpstr>
      <vt:lpstr>PowerPoint Presentation</vt:lpstr>
      <vt:lpstr>PowerPoint Presentation</vt:lpstr>
      <vt:lpstr>FUTURE WORK  </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Ggaliwango Marvin</dc:creator>
  <cp:lastModifiedBy>swale sebabe</cp:lastModifiedBy>
  <cp:revision>118</cp:revision>
  <dcterms:created xsi:type="dcterms:W3CDTF">2006-08-16T00:00:00Z</dcterms:created>
  <dcterms:modified xsi:type="dcterms:W3CDTF">2026-03-30T08:54:02Z</dcterms:modified>
</cp:coreProperties>
</file>